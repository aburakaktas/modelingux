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3" r:id="rId2"/>
    <p:sldId id="266" r:id="rId3"/>
    <p:sldId id="267" r:id="rId4"/>
    <p:sldId id="280" r:id="rId5"/>
    <p:sldId id="268" r:id="rId6"/>
    <p:sldId id="269" r:id="rId7"/>
    <p:sldId id="270" r:id="rId8"/>
    <p:sldId id="282" r:id="rId9"/>
    <p:sldId id="281" r:id="rId10"/>
    <p:sldId id="272" r:id="rId11"/>
    <p:sldId id="273" r:id="rId12"/>
    <p:sldId id="274" r:id="rId13"/>
    <p:sldId id="275" r:id="rId14"/>
    <p:sldId id="276" r:id="rId15"/>
    <p:sldId id="277" r:id="rId16"/>
    <p:sldId id="278" r:id="rId17"/>
    <p:sldId id="279" r:id="rId18"/>
    <p:sldId id="283" r:id="rId19"/>
    <p:sldId id="284" r:id="rId20"/>
    <p:sldId id="285" r:id="rId21"/>
  </p:sldIdLst>
  <p:sldSz cx="12192000" cy="6858000"/>
  <p:notesSz cx="6858000" cy="9144000"/>
  <p:custDataLst>
    <p:tags r:id="rId23"/>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51" autoAdjust="0"/>
    <p:restoredTop sz="85267" autoAdjust="0"/>
  </p:normalViewPr>
  <p:slideViewPr>
    <p:cSldViewPr snapToGrid="0">
      <p:cViewPr varScale="1">
        <p:scale>
          <a:sx n="78" d="100"/>
          <a:sy n="78" d="100"/>
        </p:scale>
        <p:origin x="75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tags" Target="tags/tag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47633-947C-2145-9F21-3D0BB0092A41}" type="datetimeFigureOut">
              <a:rPr lang="en-US" smtClean="0"/>
              <a:t>4/15/17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CFB8AD-4DCC-2047-800B-F40EDEEC50A7}" type="slidenum">
              <a:rPr lang="en-US" smtClean="0"/>
              <a:t>‹#›</a:t>
            </a:fld>
            <a:endParaRPr lang="en-US"/>
          </a:p>
        </p:txBody>
      </p:sp>
    </p:spTree>
    <p:extLst>
      <p:ext uri="{BB962C8B-B14F-4D97-AF65-F5344CB8AC3E}">
        <p14:creationId xmlns:p14="http://schemas.microsoft.com/office/powerpoint/2010/main" val="1090697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i="1" kern="1200" dirty="0" smtClean="0">
                <a:solidFill>
                  <a:schemeClr val="tx1"/>
                </a:solidFill>
                <a:effectLst/>
                <a:latin typeface="Arial" charset="0"/>
                <a:ea typeface="+mn-ea"/>
                <a:cs typeface="+mn-cs"/>
              </a:rPr>
              <a:t>So you have all these</a:t>
            </a:r>
            <a:r>
              <a:rPr lang="en-US" sz="1200" i="1" kern="1200" baseline="0" dirty="0" smtClean="0">
                <a:solidFill>
                  <a:schemeClr val="tx1"/>
                </a:solidFill>
                <a:effectLst/>
                <a:latin typeface="Arial" charset="0"/>
                <a:ea typeface="+mn-ea"/>
                <a:cs typeface="+mn-cs"/>
              </a:rPr>
              <a:t> transcriptions of data that you gathered. You know that there are commonalities. So how do you identify them? How do you make sense of them?</a:t>
            </a:r>
            <a:endParaRPr lang="en-US" sz="1200" i="1" kern="1200" dirty="0" smtClean="0">
              <a:solidFill>
                <a:schemeClr val="tx1"/>
              </a:solidFill>
              <a:effectLst/>
              <a:latin typeface="Arial" charset="0"/>
              <a:ea typeface="+mn-ea"/>
              <a:cs typeface="+mn-cs"/>
            </a:endParaRPr>
          </a:p>
          <a:p>
            <a:r>
              <a:rPr lang="en-US" dirty="0" smtClean="0"/>
              <a:t>To make sense of what you gather from the field,</a:t>
            </a:r>
            <a:r>
              <a:rPr lang="en-US" baseline="0" dirty="0" smtClean="0"/>
              <a:t> first you need to code all of your data to see patterns and commonalities</a:t>
            </a:r>
            <a:r>
              <a:rPr lang="is-IS" baseline="0" dirty="0" smtClean="0"/>
              <a:t>…</a:t>
            </a:r>
            <a:endParaRPr lang="en-US" dirty="0"/>
          </a:p>
        </p:txBody>
      </p:sp>
      <p:sp>
        <p:nvSpPr>
          <p:cNvPr id="4" name="Slide Number Placeholder 3"/>
          <p:cNvSpPr>
            <a:spLocks noGrp="1"/>
          </p:cNvSpPr>
          <p:nvPr>
            <p:ph type="sldNum" sz="quarter" idx="10"/>
          </p:nvPr>
        </p:nvSpPr>
        <p:spPr/>
        <p:txBody>
          <a:bodyPr/>
          <a:lstStyle/>
          <a:p>
            <a:fld id="{E39D3B43-C16D-4C8F-99C1-1C49AB65E4D4}" type="slidenum">
              <a:rPr lang="tr-TR" smtClean="0"/>
              <a:pPr/>
              <a:t>5</a:t>
            </a:fld>
            <a:endParaRPr lang="tr-TR"/>
          </a:p>
        </p:txBody>
      </p:sp>
    </p:spTree>
    <p:extLst>
      <p:ext uri="{BB962C8B-B14F-4D97-AF65-F5344CB8AC3E}">
        <p14:creationId xmlns:p14="http://schemas.microsoft.com/office/powerpoint/2010/main" val="1229863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i="1" kern="1200" smtClean="0">
              <a:solidFill>
                <a:schemeClr val="tx1"/>
              </a:solidFill>
              <a:effectLst/>
              <a:latin typeface="Arial" charset="0"/>
              <a:ea typeface="+mn-ea"/>
              <a:cs typeface="+mn-cs"/>
            </a:endParaRPr>
          </a:p>
          <a:p>
            <a:endParaRPr lang="en-US"/>
          </a:p>
        </p:txBody>
      </p:sp>
      <p:sp>
        <p:nvSpPr>
          <p:cNvPr id="4" name="Slide Number Placeholder 3"/>
          <p:cNvSpPr>
            <a:spLocks noGrp="1"/>
          </p:cNvSpPr>
          <p:nvPr>
            <p:ph type="sldNum" sz="quarter" idx="10"/>
          </p:nvPr>
        </p:nvSpPr>
        <p:spPr/>
        <p:txBody>
          <a:bodyPr/>
          <a:lstStyle/>
          <a:p>
            <a:fld id="{E39D3B43-C16D-4C8F-99C1-1C49AB65E4D4}" type="slidenum">
              <a:rPr lang="tr-TR" smtClean="0"/>
              <a:pPr/>
              <a:t>6</a:t>
            </a:fld>
            <a:endParaRPr lang="tr-TR"/>
          </a:p>
        </p:txBody>
      </p:sp>
    </p:spTree>
    <p:extLst>
      <p:ext uri="{BB962C8B-B14F-4D97-AF65-F5344CB8AC3E}">
        <p14:creationId xmlns:p14="http://schemas.microsoft.com/office/powerpoint/2010/main" val="856236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 – you are trying to understand an experience from product design perspective</a:t>
            </a:r>
          </a:p>
          <a:p>
            <a:r>
              <a:rPr lang="en-GB" sz="1200" kern="1200" dirty="0" smtClean="0">
                <a:solidFill>
                  <a:schemeClr val="tx1"/>
                </a:solidFill>
                <a:effectLst/>
                <a:latin typeface="+mn-lt"/>
                <a:ea typeface="+mn-ea"/>
                <a:cs typeface="+mn-cs"/>
              </a:rPr>
              <a:t>You need to consider whether there is an existing model that can guide how you can interpret data </a:t>
            </a:r>
          </a:p>
          <a:p>
            <a:r>
              <a:rPr lang="en-GB" sz="1200" kern="1200" dirty="0" smtClean="0">
                <a:solidFill>
                  <a:schemeClr val="tx1"/>
                </a:solidFill>
                <a:effectLst/>
                <a:latin typeface="+mn-lt"/>
                <a:ea typeface="+mn-ea"/>
                <a:cs typeface="+mn-cs"/>
              </a:rPr>
              <a:t>You collect data about current experiences and habits – which factors underlie those?</a:t>
            </a:r>
          </a:p>
          <a:p>
            <a:r>
              <a:rPr lang="en-GB" sz="1200" kern="1200" dirty="0" smtClean="0">
                <a:solidFill>
                  <a:schemeClr val="tx1"/>
                </a:solidFill>
                <a:effectLst/>
                <a:latin typeface="+mn-lt"/>
                <a:ea typeface="+mn-ea"/>
                <a:cs typeface="+mn-cs"/>
              </a:rPr>
              <a:t>You collect data about problems and preferences of users – what kind of concerns did you gather?</a:t>
            </a:r>
          </a:p>
          <a:p>
            <a:endParaRPr lang="en-GB" dirty="0"/>
          </a:p>
        </p:txBody>
      </p:sp>
      <p:sp>
        <p:nvSpPr>
          <p:cNvPr id="4" name="Slide Number Placeholder 3"/>
          <p:cNvSpPr>
            <a:spLocks noGrp="1"/>
          </p:cNvSpPr>
          <p:nvPr>
            <p:ph type="sldNum" sz="quarter" idx="10"/>
          </p:nvPr>
        </p:nvSpPr>
        <p:spPr/>
        <p:txBody>
          <a:bodyPr/>
          <a:lstStyle/>
          <a:p>
            <a:fld id="{25CFB8AD-4DCC-2047-800B-F40EDEEC50A7}" type="slidenum">
              <a:rPr lang="en-US" smtClean="0"/>
              <a:t>18</a:t>
            </a:fld>
            <a:endParaRPr lang="en-US"/>
          </a:p>
        </p:txBody>
      </p:sp>
    </p:spTree>
    <p:extLst>
      <p:ext uri="{BB962C8B-B14F-4D97-AF65-F5344CB8AC3E}">
        <p14:creationId xmlns:p14="http://schemas.microsoft.com/office/powerpoint/2010/main" val="1983006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5CFB8AD-4DCC-2047-800B-F40EDEEC50A7}" type="slidenum">
              <a:rPr lang="en-US" smtClean="0"/>
              <a:t>19</a:t>
            </a:fld>
            <a:endParaRPr lang="en-US"/>
          </a:p>
        </p:txBody>
      </p:sp>
    </p:spTree>
    <p:extLst>
      <p:ext uri="{BB962C8B-B14F-4D97-AF65-F5344CB8AC3E}">
        <p14:creationId xmlns:p14="http://schemas.microsoft.com/office/powerpoint/2010/main" val="1295276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5CFB8AD-4DCC-2047-800B-F40EDEEC50A7}" type="slidenum">
              <a:rPr lang="en-US" smtClean="0"/>
              <a:t>20</a:t>
            </a:fld>
            <a:endParaRPr lang="en-US"/>
          </a:p>
        </p:txBody>
      </p:sp>
    </p:spTree>
    <p:extLst>
      <p:ext uri="{BB962C8B-B14F-4D97-AF65-F5344CB8AC3E}">
        <p14:creationId xmlns:p14="http://schemas.microsoft.com/office/powerpoint/2010/main" val="1862731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tr-T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tr-TR"/>
          </a:p>
        </p:txBody>
      </p:sp>
      <p:sp>
        <p:nvSpPr>
          <p:cNvPr id="4" name="Date Placeholder 3"/>
          <p:cNvSpPr>
            <a:spLocks noGrp="1"/>
          </p:cNvSpPr>
          <p:nvPr>
            <p:ph type="dt" sz="half" idx="10"/>
          </p:nvPr>
        </p:nvSpPr>
        <p:spPr/>
        <p:txBody>
          <a:bodyPr/>
          <a:lstStyle/>
          <a:p>
            <a:fld id="{1FA78F09-47A8-4886-831F-40D80AF64A80}" type="datetimeFigureOut">
              <a:rPr lang="tr-TR" smtClean="0"/>
              <a:t>15.04.2017</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364358313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1FA78F09-47A8-4886-831F-40D80AF64A80}" type="datetimeFigureOut">
              <a:rPr lang="tr-TR" smtClean="0"/>
              <a:t>15.04.2017</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270953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tr-T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FA78F09-47A8-4886-831F-40D80AF64A80}" type="datetimeFigureOut">
              <a:rPr lang="tr-TR" smtClean="0"/>
              <a:t>15.04.2017</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424979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4"/>
          <p:cNvSpPr>
            <a:spLocks noGrp="1"/>
          </p:cNvSpPr>
          <p:nvPr>
            <p:ph type="dt" sz="half" idx="10"/>
          </p:nvPr>
        </p:nvSpPr>
        <p:spPr/>
        <p:txBody>
          <a:bodyPr/>
          <a:lstStyle/>
          <a:p>
            <a:fld id="{1FA78F09-47A8-4886-831F-40D80AF64A80}" type="datetimeFigureOut">
              <a:rPr lang="tr-TR" smtClean="0"/>
              <a:t>15.04.2017</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1667808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tr-T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6"/>
          <p:cNvSpPr>
            <a:spLocks noGrp="1"/>
          </p:cNvSpPr>
          <p:nvPr>
            <p:ph type="dt" sz="half" idx="10"/>
          </p:nvPr>
        </p:nvSpPr>
        <p:spPr/>
        <p:txBody>
          <a:bodyPr/>
          <a:lstStyle/>
          <a:p>
            <a:fld id="{1FA78F09-47A8-4886-831F-40D80AF64A80}" type="datetimeFigureOut">
              <a:rPr lang="tr-TR" smtClean="0"/>
              <a:t>15.04.2017</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3952342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2"/>
          <p:cNvSpPr>
            <a:spLocks noGrp="1"/>
          </p:cNvSpPr>
          <p:nvPr>
            <p:ph type="dt" sz="half" idx="10"/>
          </p:nvPr>
        </p:nvSpPr>
        <p:spPr/>
        <p:txBody>
          <a:bodyPr/>
          <a:lstStyle/>
          <a:p>
            <a:fld id="{1FA78F09-47A8-4886-831F-40D80AF64A80}" type="datetimeFigureOut">
              <a:rPr lang="tr-TR" smtClean="0"/>
              <a:t>15.04.2017</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1841311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A78F09-47A8-4886-831F-40D80AF64A80}" type="datetimeFigureOut">
              <a:rPr lang="tr-TR" smtClean="0"/>
              <a:t>15.04.2017</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2726233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tr-T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A78F09-47A8-4886-831F-40D80AF64A80}" type="datetimeFigureOut">
              <a:rPr lang="tr-TR" smtClean="0"/>
              <a:t>15.04.2017</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580788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tr-T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A78F09-47A8-4886-831F-40D80AF64A80}" type="datetimeFigureOut">
              <a:rPr lang="tr-TR" smtClean="0"/>
              <a:t>15.04.2017</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51633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1FA78F09-47A8-4886-831F-40D80AF64A80}" type="datetimeFigureOut">
              <a:rPr lang="tr-TR" smtClean="0"/>
              <a:t>15.04.2017</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2309972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1FA78F09-47A8-4886-831F-40D80AF64A80}" type="datetimeFigureOut">
              <a:rPr lang="tr-TR" smtClean="0"/>
              <a:t>15.04.2017</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6C1063D-6EB9-41E0-B55C-2B270B71CC49}" type="slidenum">
              <a:rPr lang="tr-TR" smtClean="0"/>
              <a:t>‹#›</a:t>
            </a:fld>
            <a:endParaRPr lang="tr-TR"/>
          </a:p>
        </p:txBody>
      </p:sp>
    </p:spTree>
    <p:extLst>
      <p:ext uri="{BB962C8B-B14F-4D97-AF65-F5344CB8AC3E}">
        <p14:creationId xmlns:p14="http://schemas.microsoft.com/office/powerpoint/2010/main" val="30076735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tr-T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A78F09-47A8-4886-831F-40D80AF64A80}" type="datetimeFigureOut">
              <a:rPr lang="tr-TR" smtClean="0"/>
              <a:t>15.04.2017</a:t>
            </a:fld>
            <a:endParaRPr lang="tr-T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C1063D-6EB9-41E0-B55C-2B270B71CC49}" type="slidenum">
              <a:rPr lang="tr-TR" smtClean="0"/>
              <a:t>‹#›</a:t>
            </a:fld>
            <a:endParaRPr lang="tr-TR"/>
          </a:p>
        </p:txBody>
      </p:sp>
    </p:spTree>
    <p:extLst>
      <p:ext uri="{BB962C8B-B14F-4D97-AF65-F5344CB8AC3E}">
        <p14:creationId xmlns:p14="http://schemas.microsoft.com/office/powerpoint/2010/main" val="460739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60609" y="325015"/>
            <a:ext cx="8339341" cy="4010027"/>
          </a:xfrm>
          <a:prstGeom prst="rect">
            <a:avLst/>
          </a:prstGeom>
        </p:spPr>
      </p:pic>
      <p:pic>
        <p:nvPicPr>
          <p:cNvPr id="3" name="Picture 2"/>
          <p:cNvPicPr>
            <a:picLocks noChangeAspect="1"/>
          </p:cNvPicPr>
          <p:nvPr/>
        </p:nvPicPr>
        <p:blipFill>
          <a:blip r:embed="rId3"/>
          <a:stretch>
            <a:fillRect/>
          </a:stretch>
        </p:blipFill>
        <p:spPr>
          <a:xfrm>
            <a:off x="5058709" y="4335042"/>
            <a:ext cx="6058771" cy="1469762"/>
          </a:xfrm>
          <a:prstGeom prst="rect">
            <a:avLst/>
          </a:prstGeom>
        </p:spPr>
      </p:pic>
      <p:sp>
        <p:nvSpPr>
          <p:cNvPr id="4" name="TextBox 3"/>
          <p:cNvSpPr txBox="1"/>
          <p:nvPr/>
        </p:nvSpPr>
        <p:spPr>
          <a:xfrm>
            <a:off x="7236502" y="5620138"/>
            <a:ext cx="3791038" cy="553998"/>
          </a:xfrm>
          <a:prstGeom prst="rect">
            <a:avLst/>
          </a:prstGeom>
          <a:noFill/>
        </p:spPr>
        <p:txBody>
          <a:bodyPr wrap="none" rtlCol="0">
            <a:spAutoFit/>
          </a:bodyPr>
          <a:lstStyle/>
          <a:p>
            <a:pPr algn="r"/>
            <a:r>
              <a:rPr lang="en-GB" sz="3000" dirty="0" smtClean="0">
                <a:solidFill>
                  <a:schemeClr val="bg1">
                    <a:lumMod val="50000"/>
                  </a:schemeClr>
                </a:solidFill>
                <a:latin typeface="Abadi MT Condensed Extra Bold"/>
                <a:cs typeface="Abadi MT Condensed Extra Bold"/>
              </a:rPr>
              <a:t>Early Stages </a:t>
            </a:r>
            <a:r>
              <a:rPr lang="en-GB" sz="3000" smtClean="0">
                <a:solidFill>
                  <a:schemeClr val="bg1">
                    <a:lumMod val="50000"/>
                  </a:schemeClr>
                </a:solidFill>
                <a:latin typeface="Abadi MT Condensed Extra Bold"/>
                <a:cs typeface="Abadi MT Condensed Extra Bold"/>
              </a:rPr>
              <a:t>of Analysis</a:t>
            </a:r>
            <a:endParaRPr lang="en-GB" sz="3000" dirty="0">
              <a:solidFill>
                <a:schemeClr val="bg1">
                  <a:lumMod val="50000"/>
                </a:schemeClr>
              </a:solidFill>
              <a:latin typeface="Abadi MT Condensed Extra Bold"/>
              <a:cs typeface="Abadi MT Condensed Extra Bold"/>
            </a:endParaRPr>
          </a:p>
        </p:txBody>
      </p:sp>
    </p:spTree>
    <p:extLst>
      <p:ext uri="{BB962C8B-B14F-4D97-AF65-F5344CB8AC3E}">
        <p14:creationId xmlns:p14="http://schemas.microsoft.com/office/powerpoint/2010/main" val="1311784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981200" y="1600200"/>
          <a:ext cx="8219256" cy="4206240"/>
        </p:xfrm>
        <a:graphic>
          <a:graphicData uri="http://schemas.openxmlformats.org/drawingml/2006/table">
            <a:tbl>
              <a:tblPr firstRow="1" bandRow="1">
                <a:tableStyleId>{616DA210-FB5B-4158-B5E0-FEB733F419BA}</a:tableStyleId>
              </a:tblPr>
              <a:tblGrid>
                <a:gridCol w="3708206"/>
                <a:gridCol w="4511050"/>
              </a:tblGrid>
              <a:tr h="370840">
                <a:tc>
                  <a:txBody>
                    <a:bodyPr/>
                    <a:lstStyle/>
                    <a:p>
                      <a:r>
                        <a:rPr lang="en-US" dirty="0" smtClean="0"/>
                        <a:t>Three stages (Miles, </a:t>
                      </a:r>
                      <a:r>
                        <a:rPr lang="en-US" dirty="0" err="1" smtClean="0"/>
                        <a:t>Huberman</a:t>
                      </a:r>
                      <a:r>
                        <a:rPr lang="en-US" dirty="0" smtClean="0"/>
                        <a:t> and Saldana, 2014)</a:t>
                      </a:r>
                      <a:endParaRPr lang="en-US" dirty="0"/>
                    </a:p>
                  </a:txBody>
                  <a:tcPr/>
                </a:tc>
                <a:tc>
                  <a:txBody>
                    <a:bodyPr/>
                    <a:lstStyle/>
                    <a:p>
                      <a:r>
                        <a:rPr lang="en-US" dirty="0" smtClean="0"/>
                        <a:t>Six steps (Creswell,</a:t>
                      </a:r>
                      <a:r>
                        <a:rPr lang="en-US" baseline="0" dirty="0" smtClean="0"/>
                        <a:t> 2012)</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Data Condensation</a:t>
                      </a:r>
                    </a:p>
                  </a:txBody>
                  <a:tcPr/>
                </a:tc>
                <a:tc>
                  <a:txBody>
                    <a:bodyPr/>
                    <a:lstStyle/>
                    <a:p>
                      <a:pPr marL="285750" indent="-285750">
                        <a:buFont typeface="Arial"/>
                        <a:buChar char="•"/>
                      </a:pPr>
                      <a:r>
                        <a:rPr lang="en-US" dirty="0" smtClean="0">
                          <a:latin typeface="Arial" charset="0"/>
                          <a:ea typeface="MS PGothic" charset="0"/>
                          <a:cs typeface="Arial" charset="0"/>
                        </a:rPr>
                        <a:t>Preparing and organizing the data for analysis</a:t>
                      </a:r>
                    </a:p>
                    <a:p>
                      <a:pPr marL="285750" indent="-285750">
                        <a:buFont typeface="Arial"/>
                        <a:buChar char="•"/>
                      </a:pPr>
                      <a:r>
                        <a:rPr lang="en-US" dirty="0" smtClean="0">
                          <a:latin typeface="Arial" charset="0"/>
                          <a:ea typeface="MS PGothic" charset="0"/>
                          <a:cs typeface="Arial" charset="0"/>
                        </a:rPr>
                        <a:t>Exploring the data through coding</a:t>
                      </a:r>
                    </a:p>
                    <a:p>
                      <a:pPr marL="285750" indent="-285750">
                        <a:buFont typeface="Arial"/>
                        <a:buChar char="•"/>
                      </a:pPr>
                      <a:r>
                        <a:rPr lang="en-US" dirty="0" smtClean="0">
                          <a:latin typeface="Arial" charset="0"/>
                          <a:ea typeface="MS PGothic" charset="0"/>
                          <a:cs typeface="Arial" charset="0"/>
                        </a:rPr>
                        <a:t>Using codes to develop description and themes</a:t>
                      </a:r>
                      <a:endParaRPr lang="en-US" dirty="0">
                        <a:latin typeface="Arial" charset="0"/>
                        <a:ea typeface="MS PGothic" charset="0"/>
                        <a:cs typeface="Arial" charset="0"/>
                      </a:endParaRPr>
                    </a:p>
                  </a:txBody>
                  <a:tcPr/>
                </a:tc>
              </a:tr>
              <a:tr h="370840">
                <a:tc>
                  <a:txBody>
                    <a:bodyPr/>
                    <a:lstStyle/>
                    <a:p>
                      <a:r>
                        <a:rPr lang="en-US" dirty="0" smtClean="0"/>
                        <a:t>Data display</a:t>
                      </a:r>
                      <a:endParaRPr lang="en-US" dirty="0"/>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a:buChar char="•"/>
                        <a:tabLst/>
                        <a:defRPr/>
                      </a:pPr>
                      <a:r>
                        <a:rPr lang="en-US" dirty="0" smtClean="0">
                          <a:latin typeface="Arial" charset="0"/>
                          <a:ea typeface="MS PGothic" charset="0"/>
                          <a:cs typeface="Arial" charset="0"/>
                        </a:rPr>
                        <a:t>Representing the findings through narratives and visuals</a:t>
                      </a:r>
                    </a:p>
                  </a:txBody>
                  <a:tcPr/>
                </a:tc>
              </a:tr>
              <a:tr h="370840">
                <a:tc>
                  <a:txBody>
                    <a:bodyPr/>
                    <a:lstStyle/>
                    <a:p>
                      <a:r>
                        <a:rPr lang="en-US" dirty="0" smtClean="0"/>
                        <a:t>Drawing and verifying conclusions</a:t>
                      </a:r>
                      <a:endParaRPr lang="en-US" dirty="0"/>
                    </a:p>
                  </a:txBody>
                  <a:tcPr/>
                </a:tc>
                <a:tc>
                  <a:txBody>
                    <a:bodyPr/>
                    <a:lstStyle/>
                    <a:p>
                      <a:pPr marL="285750" indent="-285750">
                        <a:buFont typeface="Arial"/>
                        <a:buChar char="•"/>
                      </a:pPr>
                      <a:r>
                        <a:rPr lang="en-US" dirty="0" smtClean="0">
                          <a:latin typeface="Arial" charset="0"/>
                          <a:ea typeface="MS PGothic" charset="0"/>
                          <a:cs typeface="Arial" charset="0"/>
                        </a:rPr>
                        <a:t>Making an interpretation of the meaning of the findings</a:t>
                      </a:r>
                    </a:p>
                    <a:p>
                      <a:pPr marL="285750" indent="-285750">
                        <a:buFont typeface="Arial"/>
                        <a:buChar char="•"/>
                      </a:pPr>
                      <a:r>
                        <a:rPr lang="en-US" dirty="0" smtClean="0">
                          <a:latin typeface="Arial" charset="0"/>
                          <a:ea typeface="MS PGothic" charset="0"/>
                          <a:cs typeface="Arial" charset="0"/>
                        </a:rPr>
                        <a:t>Using strategies to validate the accuracy of the findings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latin typeface="Arial" charset="0"/>
                        <a:ea typeface="MS PGothic" charset="0"/>
                        <a:cs typeface="Arial" charset="0"/>
                      </a:endParaRPr>
                    </a:p>
                  </a:txBody>
                  <a:tcPr/>
                </a:tc>
              </a:tr>
            </a:tbl>
          </a:graphicData>
        </a:graphic>
      </p:graphicFrame>
      <p:sp>
        <p:nvSpPr>
          <p:cNvPr id="5"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Steps</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for</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Analyzing</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Qualitative</a:t>
            </a:r>
            <a:r>
              <a:rPr lang="tr-TR" dirty="0">
                <a:solidFill>
                  <a:schemeClr val="bg1"/>
                </a:solidFill>
                <a:latin typeface="Walrus Bold" panose="00000800000000000000" pitchFamily="50" charset="0"/>
              </a:rPr>
              <a:t> Data</a:t>
            </a:r>
            <a:endParaRPr lang="tr-TR" dirty="0">
              <a:solidFill>
                <a:schemeClr val="bg1"/>
              </a:solidFill>
              <a:latin typeface="Walrus Bold" panose="00000800000000000000" pitchFamily="50" charset="0"/>
            </a:endParaRPr>
          </a:p>
        </p:txBody>
      </p:sp>
      <p:sp>
        <p:nvSpPr>
          <p:cNvPr id="6"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LAB SETTING</a:t>
            </a:r>
            <a:endParaRPr lang="tr-TR" sz="1400" b="1" dirty="0"/>
          </a:p>
        </p:txBody>
      </p:sp>
    </p:spTree>
    <p:extLst>
      <p:ext uri="{BB962C8B-B14F-4D97-AF65-F5344CB8AC3E}">
        <p14:creationId xmlns:p14="http://schemas.microsoft.com/office/powerpoint/2010/main" val="17085871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70989"/>
            <a:ext cx="10515600" cy="4351338"/>
          </a:xfrm>
        </p:spPr>
        <p:txBody>
          <a:bodyPr>
            <a:normAutofit/>
          </a:bodyPr>
          <a:lstStyle/>
          <a:p>
            <a:r>
              <a:rPr lang="en-US" sz="2400" dirty="0" smtClean="0"/>
              <a:t>Analysis begins with transcription.</a:t>
            </a:r>
          </a:p>
          <a:p>
            <a:r>
              <a:rPr lang="en-US" sz="2400" dirty="0" smtClean="0"/>
              <a:t>Transcribe </a:t>
            </a:r>
            <a:r>
              <a:rPr lang="en-US" sz="2400" dirty="0"/>
              <a:t>early</a:t>
            </a:r>
            <a:r>
              <a:rPr lang="en-US" sz="2400" dirty="0" smtClean="0"/>
              <a:t>!</a:t>
            </a:r>
            <a:endParaRPr lang="en-US" sz="2400" dirty="0"/>
          </a:p>
          <a:p>
            <a:r>
              <a:rPr lang="en-US" sz="2400" dirty="0"/>
              <a:t>Use a transcription aid, such as </a:t>
            </a:r>
            <a:r>
              <a:rPr lang="en-US" sz="2400" dirty="0" err="1"/>
              <a:t>ExpressScribe</a:t>
            </a:r>
            <a:r>
              <a:rPr lang="en-US" sz="2400" dirty="0"/>
              <a:t> or an audio player with Global Hot Keys.</a:t>
            </a:r>
          </a:p>
          <a:p>
            <a:r>
              <a:rPr lang="en-US" sz="2400" dirty="0"/>
              <a:t>Put a time stamp often. </a:t>
            </a:r>
            <a:r>
              <a:rPr lang="en-US" sz="2400" dirty="0"/>
              <a:t>It can be helpful, if you need to review the audio while analyzing</a:t>
            </a:r>
            <a:r>
              <a:rPr lang="en-US" sz="2400" dirty="0" smtClean="0"/>
              <a:t>.</a:t>
            </a:r>
          </a:p>
          <a:p>
            <a:r>
              <a:rPr lang="en-GB" sz="2400" dirty="0" smtClean="0"/>
              <a:t>Note down (or highlight) compelling </a:t>
            </a:r>
            <a:r>
              <a:rPr lang="en-GB" sz="2400" dirty="0"/>
              <a:t>words and </a:t>
            </a:r>
            <a:r>
              <a:rPr lang="en-GB" sz="2400" dirty="0" smtClean="0"/>
              <a:t>phrases. They can be used when presenting your findings.</a:t>
            </a:r>
            <a:endParaRPr lang="en-US" sz="2400" dirty="0"/>
          </a:p>
        </p:txBody>
      </p:sp>
      <p:sp>
        <p:nvSpPr>
          <p:cNvPr id="7"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Transcribing</a:t>
            </a:r>
            <a:endParaRPr lang="tr-TR" dirty="0">
              <a:solidFill>
                <a:schemeClr val="bg1"/>
              </a:solidFill>
              <a:latin typeface="Walrus Bold" panose="00000800000000000000" pitchFamily="50" charset="0"/>
            </a:endParaRPr>
          </a:p>
        </p:txBody>
      </p:sp>
      <p:sp>
        <p:nvSpPr>
          <p:cNvPr id="8"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PREPARATION</a:t>
            </a:r>
            <a:endParaRPr lang="tr-TR" sz="1400" b="1" dirty="0"/>
          </a:p>
        </p:txBody>
      </p:sp>
    </p:spTree>
    <p:extLst>
      <p:ext uri="{BB962C8B-B14F-4D97-AF65-F5344CB8AC3E}">
        <p14:creationId xmlns:p14="http://schemas.microsoft.com/office/powerpoint/2010/main" val="724485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70989"/>
            <a:ext cx="10515600" cy="4351338"/>
          </a:xfrm>
        </p:spPr>
        <p:txBody>
          <a:bodyPr>
            <a:normAutofit/>
          </a:bodyPr>
          <a:lstStyle/>
          <a:p>
            <a:r>
              <a:rPr lang="en-US" sz="2400" dirty="0"/>
              <a:t>The key to transcribing is capturing the meaning of people’s words, so although you should aim for exact transcription, don’t shy away from paraphrasing, dropping unnecessary words, or adding parenthetical expressions to provide context. However, </a:t>
            </a:r>
            <a:r>
              <a:rPr lang="en-US" sz="2400" dirty="0">
                <a:solidFill>
                  <a:srgbClr val="FF0000"/>
                </a:solidFill>
              </a:rPr>
              <a:t>always make it clear which words are yours and which are the participants’</a:t>
            </a:r>
            <a:r>
              <a:rPr lang="en-US" sz="2400" dirty="0"/>
              <a:t> (Goodman, </a:t>
            </a:r>
            <a:r>
              <a:rPr lang="en-US" sz="2400" dirty="0" err="1" smtClean="0"/>
              <a:t>Kuniavsky</a:t>
            </a:r>
            <a:r>
              <a:rPr lang="en-US" sz="2400" dirty="0" smtClean="0"/>
              <a:t> and </a:t>
            </a:r>
            <a:r>
              <a:rPr lang="en-US" sz="2400" dirty="0" err="1" smtClean="0"/>
              <a:t>Moed</a:t>
            </a:r>
            <a:r>
              <a:rPr lang="en-US" sz="2400" dirty="0" smtClean="0"/>
              <a:t>, 2012, p.426)</a:t>
            </a:r>
          </a:p>
          <a:p>
            <a:r>
              <a:rPr lang="en-US" sz="2400" dirty="0" smtClean="0"/>
              <a:t>Use </a:t>
            </a:r>
            <a:r>
              <a:rPr lang="en-US" sz="2400" dirty="0"/>
              <a:t>[ ] to write down things that the respondent did not say, but important to be noted down, such as </a:t>
            </a:r>
          </a:p>
          <a:p>
            <a:pPr lvl="1"/>
            <a:r>
              <a:rPr lang="en-US" sz="2000" dirty="0"/>
              <a:t>time intervals e.g. [</a:t>
            </a:r>
            <a:r>
              <a:rPr lang="is-IS" sz="2000" dirty="0"/>
              <a:t>…</a:t>
            </a:r>
            <a:r>
              <a:rPr lang="en-US" sz="2000" dirty="0"/>
              <a:t>], [</a:t>
            </a:r>
            <a:r>
              <a:rPr lang="en-US" sz="2000" i="1" dirty="0"/>
              <a:t>pause</a:t>
            </a:r>
            <a:r>
              <a:rPr lang="en-US" sz="2000" dirty="0"/>
              <a:t>]; </a:t>
            </a:r>
          </a:p>
          <a:p>
            <a:pPr lvl="1"/>
            <a:r>
              <a:rPr lang="en-US" sz="2000" dirty="0"/>
              <a:t>gestures or activities of the respondent that can be important while interpreting the data e.g. [</a:t>
            </a:r>
            <a:r>
              <a:rPr lang="en-US" sz="2000" i="1" dirty="0"/>
              <a:t>laughing</a:t>
            </a:r>
            <a:r>
              <a:rPr lang="en-US" sz="2000" dirty="0"/>
              <a:t>], [</a:t>
            </a:r>
            <a:r>
              <a:rPr lang="en-US" sz="2000" i="1" dirty="0"/>
              <a:t>pointing at the figure</a:t>
            </a:r>
            <a:r>
              <a:rPr lang="en-US" sz="2000" dirty="0"/>
              <a:t>]</a:t>
            </a:r>
          </a:p>
          <a:p>
            <a:pPr lvl="1"/>
            <a:r>
              <a:rPr lang="en-US" sz="2000" dirty="0"/>
              <a:t>parts, where you cannot hear the audio e.g. [</a:t>
            </a:r>
            <a:r>
              <a:rPr lang="en-US" sz="2000" i="1" dirty="0"/>
              <a:t>inaudible</a:t>
            </a:r>
            <a:r>
              <a:rPr lang="en-US" sz="2000" dirty="0"/>
              <a:t>]</a:t>
            </a:r>
            <a:endParaRPr lang="en-US" sz="2000" dirty="0"/>
          </a:p>
        </p:txBody>
      </p:sp>
      <p:sp>
        <p:nvSpPr>
          <p:cNvPr id="7"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Transcribing</a:t>
            </a:r>
            <a:endParaRPr lang="tr-TR" dirty="0">
              <a:solidFill>
                <a:schemeClr val="bg1"/>
              </a:solidFill>
              <a:latin typeface="Walrus Bold" panose="00000800000000000000" pitchFamily="50" charset="0"/>
            </a:endParaRPr>
          </a:p>
        </p:txBody>
      </p:sp>
      <p:sp>
        <p:nvSpPr>
          <p:cNvPr id="8"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PREPARATION</a:t>
            </a:r>
            <a:endParaRPr lang="tr-TR" sz="1400" b="1" dirty="0"/>
          </a:p>
        </p:txBody>
      </p:sp>
    </p:spTree>
    <p:extLst>
      <p:ext uri="{BB962C8B-B14F-4D97-AF65-F5344CB8AC3E}">
        <p14:creationId xmlns:p14="http://schemas.microsoft.com/office/powerpoint/2010/main" val="21333474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i="1" dirty="0" smtClean="0"/>
              <a:t>Codes</a:t>
            </a:r>
            <a:r>
              <a:rPr lang="en-US" dirty="0" smtClean="0"/>
              <a:t> are labels that assign symbolic meaning to the descriptive or inferential information compiled during a study.</a:t>
            </a:r>
          </a:p>
          <a:p>
            <a:r>
              <a:rPr lang="en-US" dirty="0" smtClean="0"/>
              <a:t>Codes usually are attached to </a:t>
            </a:r>
            <a:r>
              <a:rPr lang="en-US" b="1" dirty="0" smtClean="0">
                <a:solidFill>
                  <a:srgbClr val="FF0000"/>
                </a:solidFill>
              </a:rPr>
              <a:t>data “chunks” </a:t>
            </a:r>
            <a:r>
              <a:rPr lang="en-US" dirty="0" smtClean="0"/>
              <a:t>of varying size and can take the form of a straightforward, descriptive label or a more evocative and complex one (e.g. </a:t>
            </a:r>
            <a:r>
              <a:rPr lang="en-US" dirty="0" smtClean="0"/>
              <a:t>metaphor)</a:t>
            </a:r>
          </a:p>
          <a:p>
            <a:pPr marL="457200" lvl="1" indent="0" algn="r">
              <a:buNone/>
            </a:pPr>
            <a:r>
              <a:rPr lang="en-US" dirty="0"/>
              <a:t>(</a:t>
            </a:r>
            <a:r>
              <a:rPr lang="en-US" dirty="0" smtClean="0"/>
              <a:t>Miles</a:t>
            </a:r>
            <a:r>
              <a:rPr lang="en-US" dirty="0"/>
              <a:t>, Huberman and Saldana, </a:t>
            </a:r>
            <a:r>
              <a:rPr lang="en-US" dirty="0" smtClean="0"/>
              <a:t>2014)</a:t>
            </a:r>
            <a:endParaRPr lang="en-US" dirty="0"/>
          </a:p>
          <a:p>
            <a:endParaRPr lang="en-US" dirty="0"/>
          </a:p>
        </p:txBody>
      </p:sp>
      <p:sp>
        <p:nvSpPr>
          <p:cNvPr id="6"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 </a:t>
            </a:r>
            <a:r>
              <a:rPr lang="tr-TR" dirty="0" err="1">
                <a:solidFill>
                  <a:schemeClr val="bg1"/>
                </a:solidFill>
                <a:latin typeface="Walrus Bold" panose="00000800000000000000" pitchFamily="50" charset="0"/>
              </a:rPr>
              <a:t>What</a:t>
            </a:r>
            <a:r>
              <a:rPr lang="tr-TR" dirty="0">
                <a:solidFill>
                  <a:schemeClr val="bg1"/>
                </a:solidFill>
                <a:latin typeface="Walrus Bold" panose="00000800000000000000" pitchFamily="50" charset="0"/>
              </a:rPr>
              <a:t> is a </a:t>
            </a:r>
            <a:r>
              <a:rPr lang="tr-TR" dirty="0" err="1">
                <a:solidFill>
                  <a:schemeClr val="bg1"/>
                </a:solidFill>
                <a:latin typeface="Walrus Bold" panose="00000800000000000000" pitchFamily="50" charset="0"/>
              </a:rPr>
              <a:t>code</a:t>
            </a:r>
            <a:r>
              <a:rPr lang="tr-TR" dirty="0">
                <a:solidFill>
                  <a:schemeClr val="bg1"/>
                </a:solidFill>
                <a:latin typeface="Walrus Bold" panose="00000800000000000000" pitchFamily="50" charset="0"/>
              </a:rPr>
              <a:t>?</a:t>
            </a:r>
            <a:endParaRPr lang="tr-TR" dirty="0">
              <a:solidFill>
                <a:schemeClr val="bg1"/>
              </a:solidFill>
              <a:latin typeface="Walrus Bold" panose="00000800000000000000" pitchFamily="50" charset="0"/>
            </a:endParaRPr>
          </a:p>
        </p:txBody>
      </p:sp>
      <p:sp>
        <p:nvSpPr>
          <p:cNvPr id="7"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200057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Codes are primarily, but not exclusively, used to </a:t>
            </a:r>
            <a:r>
              <a:rPr lang="en-US" b="1" dirty="0" smtClean="0">
                <a:solidFill>
                  <a:srgbClr val="FF0000"/>
                </a:solidFill>
              </a:rPr>
              <a:t>retrieve </a:t>
            </a:r>
            <a:r>
              <a:rPr lang="en-US" dirty="0" smtClean="0"/>
              <a:t>and </a:t>
            </a:r>
            <a:r>
              <a:rPr lang="en-US" b="1" dirty="0" smtClean="0">
                <a:solidFill>
                  <a:srgbClr val="FF0000"/>
                </a:solidFill>
              </a:rPr>
              <a:t>categorize</a:t>
            </a:r>
            <a:r>
              <a:rPr lang="en-US" dirty="0" smtClean="0"/>
              <a:t> similar data chunks so </a:t>
            </a:r>
            <a:r>
              <a:rPr lang="en-US" b="1" dirty="0" smtClean="0">
                <a:solidFill>
                  <a:srgbClr val="FF0000"/>
                </a:solidFill>
              </a:rPr>
              <a:t>the researcher can quickly find, pull out, and cluster</a:t>
            </a:r>
            <a:r>
              <a:rPr lang="en-US" b="1" dirty="0" smtClean="0"/>
              <a:t> </a:t>
            </a:r>
            <a:r>
              <a:rPr lang="en-US" dirty="0" smtClean="0"/>
              <a:t>the segments relating to a particular research question, hypothesis, construct or theme. </a:t>
            </a:r>
          </a:p>
          <a:p>
            <a:r>
              <a:rPr lang="en-US" dirty="0" smtClean="0"/>
              <a:t>Clustering and the display of condensed chunks then set the stage further analysis and drawing conclusions</a:t>
            </a:r>
            <a:r>
              <a:rPr lang="en-US" dirty="0"/>
              <a:t>.</a:t>
            </a:r>
          </a:p>
          <a:p>
            <a:pPr marL="457200" lvl="1" indent="0" algn="r">
              <a:buNone/>
            </a:pPr>
            <a:r>
              <a:rPr lang="en-US" dirty="0"/>
              <a:t>(Miles, Huberman and Saldana, 2014)</a:t>
            </a:r>
          </a:p>
          <a:p>
            <a:endParaRPr lang="en-US" dirty="0"/>
          </a:p>
        </p:txBody>
      </p:sp>
      <p:sp>
        <p:nvSpPr>
          <p:cNvPr id="6"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 How </a:t>
            </a:r>
            <a:r>
              <a:rPr lang="tr-TR" dirty="0" err="1">
                <a:solidFill>
                  <a:schemeClr val="bg1"/>
                </a:solidFill>
                <a:latin typeface="Walrus Bold" panose="00000800000000000000" pitchFamily="50" charset="0"/>
              </a:rPr>
              <a:t>codes</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are</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used</a:t>
            </a:r>
            <a:r>
              <a:rPr lang="tr-TR" dirty="0">
                <a:solidFill>
                  <a:schemeClr val="bg1"/>
                </a:solidFill>
                <a:latin typeface="Walrus Bold" panose="00000800000000000000" pitchFamily="50" charset="0"/>
              </a:rPr>
              <a:t>?</a:t>
            </a:r>
            <a:endParaRPr lang="tr-TR" dirty="0">
              <a:solidFill>
                <a:schemeClr val="bg1"/>
              </a:solidFill>
              <a:latin typeface="Walrus Bold" panose="00000800000000000000" pitchFamily="50" charset="0"/>
            </a:endParaRPr>
          </a:p>
        </p:txBody>
      </p:sp>
      <p:sp>
        <p:nvSpPr>
          <p:cNvPr id="7"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7873892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Codes are </a:t>
            </a:r>
            <a:r>
              <a:rPr lang="en-US" b="1" i="1" dirty="0" smtClean="0"/>
              <a:t>prompts</a:t>
            </a:r>
            <a:r>
              <a:rPr lang="en-US" dirty="0" smtClean="0"/>
              <a:t> or </a:t>
            </a:r>
            <a:r>
              <a:rPr lang="en-US" b="1" i="1" dirty="0" smtClean="0"/>
              <a:t>triggers</a:t>
            </a:r>
            <a:r>
              <a:rPr lang="en-US" dirty="0" smtClean="0"/>
              <a:t> for deeper reflection on the data’s meanings.</a:t>
            </a:r>
          </a:p>
          <a:p>
            <a:r>
              <a:rPr lang="en-US" dirty="0" smtClean="0"/>
              <a:t>Coding is thus </a:t>
            </a:r>
            <a:r>
              <a:rPr lang="en-US" b="1" dirty="0" smtClean="0">
                <a:solidFill>
                  <a:srgbClr val="FF0000"/>
                </a:solidFill>
              </a:rPr>
              <a:t>a data condensation task </a:t>
            </a:r>
            <a:r>
              <a:rPr lang="en-US" dirty="0" smtClean="0"/>
              <a:t>that enables you to retrieve the most meaningful material, to assemble chunks of data together, and further condense the bulk into readily analyzable units</a:t>
            </a:r>
            <a:r>
              <a:rPr lang="en-US" dirty="0" smtClean="0"/>
              <a:t>.</a:t>
            </a:r>
          </a:p>
          <a:p>
            <a:pPr marL="457200" lvl="1" indent="0" algn="r">
              <a:buNone/>
            </a:pPr>
            <a:r>
              <a:rPr lang="en-US" dirty="0" smtClean="0"/>
              <a:t>(Miles, Huberman and Saldana, 2014)</a:t>
            </a:r>
          </a:p>
          <a:p>
            <a:endParaRPr lang="en-US" dirty="0" smtClean="0"/>
          </a:p>
          <a:p>
            <a:endParaRPr lang="en-US" dirty="0"/>
          </a:p>
        </p:txBody>
      </p:sp>
      <p:sp>
        <p:nvSpPr>
          <p:cNvPr id="7"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 How </a:t>
            </a:r>
            <a:r>
              <a:rPr lang="tr-TR" dirty="0" err="1">
                <a:solidFill>
                  <a:schemeClr val="bg1"/>
                </a:solidFill>
                <a:latin typeface="Walrus Bold" panose="00000800000000000000" pitchFamily="50" charset="0"/>
              </a:rPr>
              <a:t>codes</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are</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used</a:t>
            </a:r>
            <a:r>
              <a:rPr lang="tr-TR" dirty="0">
                <a:solidFill>
                  <a:schemeClr val="bg1"/>
                </a:solidFill>
                <a:latin typeface="Walrus Bold" panose="00000800000000000000" pitchFamily="50" charset="0"/>
              </a:rPr>
              <a:t>?</a:t>
            </a:r>
            <a:endParaRPr lang="tr-TR" dirty="0">
              <a:solidFill>
                <a:schemeClr val="bg1"/>
              </a:solidFill>
              <a:latin typeface="Walrus Bold" panose="00000800000000000000" pitchFamily="50" charset="0"/>
            </a:endParaRPr>
          </a:p>
        </p:txBody>
      </p:sp>
      <p:sp>
        <p:nvSpPr>
          <p:cNvPr id="8"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4783150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Values </a:t>
            </a:r>
            <a:r>
              <a:rPr lang="mr-IN" dirty="0" smtClean="0"/>
              <a:t>–</a:t>
            </a:r>
            <a:r>
              <a:rPr lang="en-US" dirty="0" smtClean="0"/>
              <a:t> Consequences </a:t>
            </a:r>
            <a:r>
              <a:rPr lang="mr-IN" dirty="0" smtClean="0"/>
              <a:t>–</a:t>
            </a:r>
            <a:r>
              <a:rPr lang="en-US" dirty="0" smtClean="0"/>
              <a:t> Attributes</a:t>
            </a:r>
          </a:p>
          <a:p>
            <a:r>
              <a:rPr lang="en-US" dirty="0" smtClean="0"/>
              <a:t>Goals</a:t>
            </a:r>
          </a:p>
          <a:p>
            <a:r>
              <a:rPr lang="en-US" dirty="0" smtClean="0"/>
              <a:t>Behaviors </a:t>
            </a:r>
          </a:p>
          <a:p>
            <a:r>
              <a:rPr lang="en-US" dirty="0" smtClean="0"/>
              <a:t>Tasks</a:t>
            </a:r>
          </a:p>
          <a:p>
            <a:r>
              <a:rPr lang="en-US" dirty="0" smtClean="0"/>
              <a:t>Concerns</a:t>
            </a:r>
          </a:p>
          <a:p>
            <a:r>
              <a:rPr lang="en-US" dirty="0" smtClean="0"/>
              <a:t>Strategies</a:t>
            </a:r>
          </a:p>
          <a:p>
            <a:r>
              <a:rPr lang="en-US" dirty="0" smtClean="0"/>
              <a:t>Expectations</a:t>
            </a:r>
            <a:endParaRPr lang="en-US" dirty="0"/>
          </a:p>
          <a:p>
            <a:endParaRPr lang="en-US" dirty="0" smtClean="0"/>
          </a:p>
          <a:p>
            <a:endParaRPr lang="en-US" dirty="0"/>
          </a:p>
        </p:txBody>
      </p:sp>
      <p:sp>
        <p:nvSpPr>
          <p:cNvPr id="7"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 </a:t>
            </a:r>
            <a:r>
              <a:rPr lang="tr-TR" dirty="0" err="1" smtClean="0">
                <a:solidFill>
                  <a:schemeClr val="bg1"/>
                </a:solidFill>
                <a:latin typeface="Walrus Bold" panose="00000800000000000000" pitchFamily="50" charset="0"/>
              </a:rPr>
              <a:t>What</a:t>
            </a:r>
            <a:r>
              <a:rPr lang="tr-TR" dirty="0" smtClean="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to</a:t>
            </a:r>
            <a:r>
              <a:rPr lang="tr-TR" dirty="0" smtClean="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look</a:t>
            </a:r>
            <a:r>
              <a:rPr lang="tr-TR" dirty="0" smtClean="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for</a:t>
            </a:r>
            <a:r>
              <a:rPr lang="tr-TR" dirty="0" smtClean="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while</a:t>
            </a:r>
            <a:r>
              <a:rPr lang="tr-TR" dirty="0" smtClean="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coding</a:t>
            </a:r>
            <a:endParaRPr lang="tr-TR" dirty="0">
              <a:solidFill>
                <a:schemeClr val="bg1"/>
              </a:solidFill>
              <a:latin typeface="Walrus Bold" panose="00000800000000000000" pitchFamily="50" charset="0"/>
            </a:endParaRPr>
          </a:p>
        </p:txBody>
      </p:sp>
      <p:sp>
        <p:nvSpPr>
          <p:cNvPr id="8"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8618917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Deductive coding</a:t>
            </a:r>
          </a:p>
          <a:p>
            <a:pPr lvl="1"/>
            <a:r>
              <a:rPr lang="en-US" dirty="0" smtClean="0"/>
              <a:t>Developing a provisional </a:t>
            </a:r>
            <a:r>
              <a:rPr lang="en-US" b="1" dirty="0" smtClean="0">
                <a:solidFill>
                  <a:srgbClr val="FF0000"/>
                </a:solidFill>
              </a:rPr>
              <a:t>“start list” </a:t>
            </a:r>
            <a:r>
              <a:rPr lang="en-US" dirty="0" smtClean="0"/>
              <a:t>of codes prior to fieldwork. That list comes from the conceptual framework, list of research questions, hypothesis, problem areas, and/or key variables that the researcher brings to the study (Miles, </a:t>
            </a:r>
            <a:r>
              <a:rPr lang="en-US" dirty="0" err="1" smtClean="0"/>
              <a:t>Huberman</a:t>
            </a:r>
            <a:r>
              <a:rPr lang="en-US" dirty="0" smtClean="0"/>
              <a:t> and Saldana, 2014, p.86).</a:t>
            </a:r>
          </a:p>
          <a:p>
            <a:pPr lvl="1"/>
            <a:r>
              <a:rPr lang="en-US" dirty="0"/>
              <a:t>Deductive analysis refers to data analyses that set out to test whether data are consistent with prior assumptions, theories, or hypotheses identified or constructed by an </a:t>
            </a:r>
            <a:r>
              <a:rPr lang="en-US" dirty="0" smtClean="0"/>
              <a:t>investigator (Thomas 2006, p.238).</a:t>
            </a:r>
            <a:endParaRPr lang="en-US" dirty="0"/>
          </a:p>
        </p:txBody>
      </p:sp>
      <p:sp>
        <p:nvSpPr>
          <p:cNvPr id="5"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 </a:t>
            </a:r>
            <a:r>
              <a:rPr lang="tr-TR" dirty="0" err="1">
                <a:solidFill>
                  <a:schemeClr val="bg1"/>
                </a:solidFill>
                <a:latin typeface="Walrus Bold" panose="00000800000000000000" pitchFamily="50" charset="0"/>
              </a:rPr>
              <a:t>Two</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approaches</a:t>
            </a:r>
            <a:endParaRPr lang="tr-TR" dirty="0">
              <a:solidFill>
                <a:schemeClr val="bg1"/>
              </a:solidFill>
              <a:latin typeface="Walrus Bold" panose="00000800000000000000" pitchFamily="50" charset="0"/>
            </a:endParaRPr>
          </a:p>
        </p:txBody>
      </p:sp>
      <p:sp>
        <p:nvSpPr>
          <p:cNvPr id="6"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544663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Inductive coding</a:t>
            </a:r>
          </a:p>
          <a:p>
            <a:pPr lvl="1"/>
            <a:r>
              <a:rPr lang="en-US" dirty="0" smtClean="0"/>
              <a:t>Codes emerge progressively during data collection </a:t>
            </a:r>
            <a:r>
              <a:rPr lang="en-US" dirty="0"/>
              <a:t>(Miles, </a:t>
            </a:r>
            <a:r>
              <a:rPr lang="en-US" dirty="0" err="1"/>
              <a:t>Huberman</a:t>
            </a:r>
            <a:r>
              <a:rPr lang="en-US" dirty="0"/>
              <a:t> and Saldana, 2014, p.86)</a:t>
            </a:r>
            <a:r>
              <a:rPr lang="en-US" dirty="0" smtClean="0"/>
              <a:t>.</a:t>
            </a:r>
          </a:p>
          <a:p>
            <a:pPr lvl="1"/>
            <a:r>
              <a:rPr lang="en-US" dirty="0" smtClean="0"/>
              <a:t>Inductive analysis refers to approaches that primarily use detailed readings of raw data to derive concepts, themes, or a model through interpretations made from the raw data by an evaluator or researcher (Thomas 2006, p.238).</a:t>
            </a:r>
          </a:p>
          <a:p>
            <a:pPr lvl="1"/>
            <a:endParaRPr lang="en-US" dirty="0" smtClean="0"/>
          </a:p>
          <a:p>
            <a:r>
              <a:rPr lang="en-US" dirty="0" smtClean="0"/>
              <a:t>In practice, commonly both approaches are utilized together.</a:t>
            </a:r>
            <a:endParaRPr lang="en-US" dirty="0"/>
          </a:p>
        </p:txBody>
      </p:sp>
      <p:sp>
        <p:nvSpPr>
          <p:cNvPr id="5"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 </a:t>
            </a:r>
            <a:r>
              <a:rPr lang="tr-TR" dirty="0" err="1">
                <a:solidFill>
                  <a:schemeClr val="bg1"/>
                </a:solidFill>
                <a:latin typeface="Walrus Bold" panose="00000800000000000000" pitchFamily="50" charset="0"/>
              </a:rPr>
              <a:t>Two</a:t>
            </a:r>
            <a:r>
              <a:rPr lang="tr-TR" dirty="0">
                <a:solidFill>
                  <a:schemeClr val="bg1"/>
                </a:solidFill>
                <a:latin typeface="Walrus Bold" panose="00000800000000000000" pitchFamily="50" charset="0"/>
              </a:rPr>
              <a:t> </a:t>
            </a:r>
            <a:r>
              <a:rPr lang="tr-TR" dirty="0" err="1">
                <a:solidFill>
                  <a:schemeClr val="bg1"/>
                </a:solidFill>
                <a:latin typeface="Walrus Bold" panose="00000800000000000000" pitchFamily="50" charset="0"/>
              </a:rPr>
              <a:t>approaches</a:t>
            </a:r>
            <a:endParaRPr lang="tr-TR" dirty="0">
              <a:solidFill>
                <a:schemeClr val="bg1"/>
              </a:solidFill>
              <a:latin typeface="Walrus Bold" panose="00000800000000000000" pitchFamily="50" charset="0"/>
            </a:endParaRPr>
          </a:p>
        </p:txBody>
      </p:sp>
      <p:sp>
        <p:nvSpPr>
          <p:cNvPr id="6"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10742800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First cycle coding</a:t>
            </a:r>
          </a:p>
          <a:p>
            <a:pPr lvl="1"/>
            <a:r>
              <a:rPr lang="en-US" dirty="0" smtClean="0"/>
              <a:t>Codes are initially assigned to the data chunks.</a:t>
            </a:r>
          </a:p>
          <a:p>
            <a:pPr lvl="1"/>
            <a:r>
              <a:rPr lang="en-US" dirty="0" smtClean="0"/>
              <a:t>A way of initially summarizing the segments of data.</a:t>
            </a:r>
          </a:p>
          <a:p>
            <a:pPr lvl="1"/>
            <a:endParaRPr lang="en-US" dirty="0"/>
          </a:p>
          <a:p>
            <a:r>
              <a:rPr lang="en-US" dirty="0" smtClean="0"/>
              <a:t>Second cycle coding: Pattern codes</a:t>
            </a:r>
          </a:p>
          <a:p>
            <a:pPr lvl="1"/>
            <a:r>
              <a:rPr lang="en-US" dirty="0" smtClean="0"/>
              <a:t>A way of grouping those summaries [from the first cycle] into a smaller number of categories, themes, or constructs. </a:t>
            </a:r>
          </a:p>
          <a:p>
            <a:pPr lvl="1"/>
            <a:r>
              <a:rPr lang="en-US" dirty="0" smtClean="0"/>
              <a:t>Pattern codes are explanatory or inferential codes, ones that identifies an emergent theme, configuration, or explanation. </a:t>
            </a:r>
            <a:endParaRPr lang="en-US" dirty="0"/>
          </a:p>
          <a:p>
            <a:pPr marL="457200" lvl="1" indent="0" algn="r">
              <a:buNone/>
            </a:pPr>
            <a:r>
              <a:rPr lang="en-US" dirty="0"/>
              <a:t>(Miles, Huberman and Saldana, 2014)</a:t>
            </a:r>
          </a:p>
          <a:p>
            <a:endParaRPr lang="en-US" dirty="0"/>
          </a:p>
          <a:p>
            <a:pPr lvl="1"/>
            <a:endParaRPr lang="en-US" dirty="0"/>
          </a:p>
        </p:txBody>
      </p:sp>
      <p:sp>
        <p:nvSpPr>
          <p:cNvPr id="6"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cycles</a:t>
            </a:r>
            <a:endParaRPr lang="tr-TR" dirty="0">
              <a:solidFill>
                <a:schemeClr val="bg1"/>
              </a:solidFill>
              <a:latin typeface="Walrus Bold" panose="00000800000000000000" pitchFamily="50" charset="0"/>
            </a:endParaRPr>
          </a:p>
        </p:txBody>
      </p:sp>
      <p:sp>
        <p:nvSpPr>
          <p:cNvPr id="7"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15303346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t="-27399" b="-27399"/>
          <a:stretch>
            <a:fillRect/>
          </a:stretch>
        </p:blipFill>
        <p:spPr>
          <a:xfrm>
            <a:off x="1981200" y="764705"/>
            <a:ext cx="8229600" cy="4530725"/>
          </a:xfrm>
        </p:spPr>
      </p:pic>
      <p:sp>
        <p:nvSpPr>
          <p:cNvPr id="5" name="TextBox 4"/>
          <p:cNvSpPr txBox="1"/>
          <p:nvPr/>
        </p:nvSpPr>
        <p:spPr>
          <a:xfrm>
            <a:off x="1847528" y="4753744"/>
            <a:ext cx="1728192" cy="369332"/>
          </a:xfrm>
          <a:prstGeom prst="rect">
            <a:avLst/>
          </a:prstGeom>
          <a:noFill/>
        </p:spPr>
        <p:txBody>
          <a:bodyPr wrap="square" rtlCol="0">
            <a:spAutoFit/>
          </a:bodyPr>
          <a:lstStyle/>
          <a:p>
            <a:r>
              <a:rPr lang="en-US" dirty="0"/>
              <a:t>Transcriptions</a:t>
            </a:r>
            <a:endParaRPr lang="en-US" dirty="0"/>
          </a:p>
        </p:txBody>
      </p:sp>
      <p:sp>
        <p:nvSpPr>
          <p:cNvPr id="6" name="TextBox 5"/>
          <p:cNvSpPr txBox="1"/>
          <p:nvPr/>
        </p:nvSpPr>
        <p:spPr>
          <a:xfrm>
            <a:off x="3791744" y="4753745"/>
            <a:ext cx="1728192" cy="646331"/>
          </a:xfrm>
          <a:prstGeom prst="rect">
            <a:avLst/>
          </a:prstGeom>
          <a:noFill/>
        </p:spPr>
        <p:txBody>
          <a:bodyPr wrap="square" rtlCol="0">
            <a:spAutoFit/>
          </a:bodyPr>
          <a:lstStyle/>
          <a:p>
            <a:r>
              <a:rPr lang="en-US" dirty="0"/>
              <a:t>First Cycle Coding</a:t>
            </a:r>
            <a:endParaRPr lang="en-US" dirty="0"/>
          </a:p>
        </p:txBody>
      </p:sp>
      <p:sp>
        <p:nvSpPr>
          <p:cNvPr id="7" name="TextBox 6"/>
          <p:cNvSpPr txBox="1"/>
          <p:nvPr/>
        </p:nvSpPr>
        <p:spPr>
          <a:xfrm>
            <a:off x="6240016" y="4753745"/>
            <a:ext cx="1728192" cy="646331"/>
          </a:xfrm>
          <a:prstGeom prst="rect">
            <a:avLst/>
          </a:prstGeom>
          <a:noFill/>
        </p:spPr>
        <p:txBody>
          <a:bodyPr wrap="square" rtlCol="0">
            <a:spAutoFit/>
          </a:bodyPr>
          <a:lstStyle/>
          <a:p>
            <a:r>
              <a:rPr lang="en-US" dirty="0"/>
              <a:t>Second Cycle Coding</a:t>
            </a:r>
            <a:endParaRPr lang="en-US" dirty="0"/>
          </a:p>
        </p:txBody>
      </p:sp>
      <p:cxnSp>
        <p:nvCxnSpPr>
          <p:cNvPr id="9" name="Straight Arrow Connector 8"/>
          <p:cNvCxnSpPr/>
          <p:nvPr/>
        </p:nvCxnSpPr>
        <p:spPr bwMode="auto">
          <a:xfrm>
            <a:off x="2711624" y="4105672"/>
            <a:ext cx="0" cy="648072"/>
          </a:xfrm>
          <a:prstGeom prst="straightConnector1">
            <a:avLst/>
          </a:prstGeom>
          <a:ln>
            <a:headEnd type="none" w="med" len="med"/>
            <a:tailEnd type="arrow"/>
          </a:ln>
        </p:spPr>
        <p:style>
          <a:lnRef idx="3">
            <a:schemeClr val="accent3"/>
          </a:lnRef>
          <a:fillRef idx="0">
            <a:schemeClr val="accent3"/>
          </a:fillRef>
          <a:effectRef idx="2">
            <a:schemeClr val="accent3"/>
          </a:effectRef>
          <a:fontRef idx="minor">
            <a:schemeClr val="tx1"/>
          </a:fontRef>
        </p:style>
      </p:cxnSp>
      <p:cxnSp>
        <p:nvCxnSpPr>
          <p:cNvPr id="12" name="Straight Arrow Connector 11"/>
          <p:cNvCxnSpPr/>
          <p:nvPr/>
        </p:nvCxnSpPr>
        <p:spPr bwMode="auto">
          <a:xfrm>
            <a:off x="4295800" y="4105672"/>
            <a:ext cx="0" cy="648072"/>
          </a:xfrm>
          <a:prstGeom prst="straightConnector1">
            <a:avLst/>
          </a:prstGeom>
          <a:ln>
            <a:headEnd type="none" w="med" len="med"/>
            <a:tailEnd type="arrow"/>
          </a:ln>
        </p:spPr>
        <p:style>
          <a:lnRef idx="3">
            <a:schemeClr val="accent3"/>
          </a:lnRef>
          <a:fillRef idx="0">
            <a:schemeClr val="accent3"/>
          </a:fillRef>
          <a:effectRef idx="2">
            <a:schemeClr val="accent3"/>
          </a:effectRef>
          <a:fontRef idx="minor">
            <a:schemeClr val="tx1"/>
          </a:fontRef>
        </p:style>
      </p:cxnSp>
      <p:cxnSp>
        <p:nvCxnSpPr>
          <p:cNvPr id="13" name="Straight Arrow Connector 12"/>
          <p:cNvCxnSpPr>
            <a:endCxn id="7" idx="0"/>
          </p:cNvCxnSpPr>
          <p:nvPr/>
        </p:nvCxnSpPr>
        <p:spPr bwMode="auto">
          <a:xfrm>
            <a:off x="6312024" y="4321696"/>
            <a:ext cx="792088" cy="432048"/>
          </a:xfrm>
          <a:prstGeom prst="straightConnector1">
            <a:avLst/>
          </a:prstGeom>
          <a:ln>
            <a:headEnd type="none" w="med" len="med"/>
            <a:tailEnd type="arrow"/>
          </a:ln>
        </p:spPr>
        <p:style>
          <a:lnRef idx="3">
            <a:schemeClr val="accent3"/>
          </a:lnRef>
          <a:fillRef idx="0">
            <a:schemeClr val="accent3"/>
          </a:fillRef>
          <a:effectRef idx="2">
            <a:schemeClr val="accent3"/>
          </a:effectRef>
          <a:fontRef idx="minor">
            <a:schemeClr val="tx1"/>
          </a:fontRef>
        </p:style>
      </p:cxnSp>
      <p:cxnSp>
        <p:nvCxnSpPr>
          <p:cNvPr id="14" name="Straight Arrow Connector 13"/>
          <p:cNvCxnSpPr>
            <a:endCxn id="7" idx="0"/>
          </p:cNvCxnSpPr>
          <p:nvPr/>
        </p:nvCxnSpPr>
        <p:spPr bwMode="auto">
          <a:xfrm flipH="1">
            <a:off x="7104112" y="4321696"/>
            <a:ext cx="792088" cy="432048"/>
          </a:xfrm>
          <a:prstGeom prst="straightConnector1">
            <a:avLst/>
          </a:prstGeom>
          <a:ln>
            <a:headEnd type="none" w="med" len="med"/>
            <a:tailEnd type="arrow"/>
          </a:ln>
        </p:spPr>
        <p:style>
          <a:lnRef idx="3">
            <a:schemeClr val="accent3"/>
          </a:lnRef>
          <a:fillRef idx="0">
            <a:schemeClr val="accent3"/>
          </a:fillRef>
          <a:effectRef idx="2">
            <a:schemeClr val="accent3"/>
          </a:effectRef>
          <a:fontRef idx="minor">
            <a:schemeClr val="tx1"/>
          </a:fontRef>
        </p:style>
      </p:cxnSp>
      <p:sp>
        <p:nvSpPr>
          <p:cNvPr id="19" name="Text Box 10"/>
          <p:cNvSpPr txBox="1">
            <a:spLocks noChangeArrowheads="1"/>
          </p:cNvSpPr>
          <p:nvPr/>
        </p:nvSpPr>
        <p:spPr bwMode="auto">
          <a:xfrm>
            <a:off x="1897062" y="5695010"/>
            <a:ext cx="8397875" cy="307777"/>
          </a:xfrm>
          <a:prstGeom prst="rect">
            <a:avLst/>
          </a:prstGeom>
          <a:noFill/>
          <a:ln w="9525">
            <a:noFill/>
            <a:miter lim="800000"/>
            <a:headEnd/>
            <a:tailEnd/>
          </a:ln>
        </p:spPr>
        <p:txBody>
          <a:bodyPr>
            <a:spAutoFit/>
          </a:bodyPr>
          <a:lstStyle/>
          <a:p>
            <a:pPr algn="r">
              <a:spcBef>
                <a:spcPct val="50000"/>
              </a:spcBef>
            </a:pPr>
            <a:r>
              <a:rPr lang="en-US" sz="1400" dirty="0" smtClean="0"/>
              <a:t>(Compton </a:t>
            </a:r>
            <a:r>
              <a:rPr lang="en-US" sz="1400" dirty="0"/>
              <a:t>and Barrett, </a:t>
            </a:r>
            <a:r>
              <a:rPr lang="en-US" sz="1400" dirty="0" smtClean="0"/>
              <a:t>2016)</a:t>
            </a:r>
            <a:endParaRPr lang="en-US" sz="1400" dirty="0"/>
          </a:p>
        </p:txBody>
      </p:sp>
      <p:sp>
        <p:nvSpPr>
          <p:cNvPr id="15"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cycles</a:t>
            </a:r>
            <a:endParaRPr lang="tr-TR" dirty="0">
              <a:solidFill>
                <a:schemeClr val="bg1"/>
              </a:solidFill>
              <a:latin typeface="Walrus Bold" panose="00000800000000000000" pitchFamily="50" charset="0"/>
            </a:endParaRPr>
          </a:p>
        </p:txBody>
      </p:sp>
      <p:sp>
        <p:nvSpPr>
          <p:cNvPr id="16"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20703396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048" r="31813"/>
          <a:stretch/>
        </p:blipFill>
        <p:spPr>
          <a:xfrm>
            <a:off x="2495600" y="1556793"/>
            <a:ext cx="2880320" cy="4735272"/>
          </a:xfrm>
        </p:spPr>
      </p:pic>
      <p:pic>
        <p:nvPicPr>
          <p:cNvPr id="5" name="Picture 4"/>
          <p:cNvPicPr>
            <a:picLocks noChangeAspect="1"/>
          </p:cNvPicPr>
          <p:nvPr/>
        </p:nvPicPr>
        <p:blipFill>
          <a:blip r:embed="rId3"/>
          <a:stretch>
            <a:fillRect/>
          </a:stretch>
        </p:blipFill>
        <p:spPr>
          <a:xfrm>
            <a:off x="6023992" y="1556793"/>
            <a:ext cx="3600400" cy="3746857"/>
          </a:xfrm>
          <a:prstGeom prst="rect">
            <a:avLst/>
          </a:prstGeom>
        </p:spPr>
      </p:pic>
      <p:sp>
        <p:nvSpPr>
          <p:cNvPr id="6" name="Text Box 10"/>
          <p:cNvSpPr txBox="1">
            <a:spLocks noChangeArrowheads="1"/>
          </p:cNvSpPr>
          <p:nvPr/>
        </p:nvSpPr>
        <p:spPr bwMode="auto">
          <a:xfrm>
            <a:off x="3389572" y="6469212"/>
            <a:ext cx="8397875" cy="307777"/>
          </a:xfrm>
          <a:prstGeom prst="rect">
            <a:avLst/>
          </a:prstGeom>
          <a:noFill/>
          <a:ln w="9525">
            <a:noFill/>
            <a:miter lim="800000"/>
            <a:headEnd/>
            <a:tailEnd/>
          </a:ln>
        </p:spPr>
        <p:txBody>
          <a:bodyPr>
            <a:spAutoFit/>
          </a:bodyPr>
          <a:lstStyle/>
          <a:p>
            <a:pPr algn="r">
              <a:spcBef>
                <a:spcPct val="50000"/>
              </a:spcBef>
            </a:pPr>
            <a:r>
              <a:rPr lang="tr-TR" sz="1400" dirty="0" err="1">
                <a:solidFill>
                  <a:srgbClr val="495677"/>
                </a:solidFill>
              </a:rPr>
              <a:t>For</a:t>
            </a:r>
            <a:r>
              <a:rPr lang="tr-TR" sz="1400" dirty="0">
                <a:solidFill>
                  <a:srgbClr val="495677"/>
                </a:solidFill>
              </a:rPr>
              <a:t> </a:t>
            </a:r>
            <a:r>
              <a:rPr lang="tr-TR" sz="1400" dirty="0" err="1">
                <a:solidFill>
                  <a:srgbClr val="495677"/>
                </a:solidFill>
              </a:rPr>
              <a:t>definitions</a:t>
            </a:r>
            <a:r>
              <a:rPr lang="tr-TR" sz="1400" dirty="0">
                <a:solidFill>
                  <a:srgbClr val="495677"/>
                </a:solidFill>
              </a:rPr>
              <a:t> </a:t>
            </a:r>
            <a:r>
              <a:rPr lang="tr-TR" sz="1400" dirty="0" err="1">
                <a:solidFill>
                  <a:srgbClr val="495677"/>
                </a:solidFill>
              </a:rPr>
              <a:t>and</a:t>
            </a:r>
            <a:r>
              <a:rPr lang="tr-TR" sz="1400" dirty="0">
                <a:solidFill>
                  <a:srgbClr val="495677"/>
                </a:solidFill>
              </a:rPr>
              <a:t> </a:t>
            </a:r>
            <a:r>
              <a:rPr lang="tr-TR" sz="1400" dirty="0" err="1">
                <a:solidFill>
                  <a:srgbClr val="495677"/>
                </a:solidFill>
              </a:rPr>
              <a:t>descriptions</a:t>
            </a:r>
            <a:r>
              <a:rPr lang="tr-TR" sz="1400" dirty="0">
                <a:solidFill>
                  <a:srgbClr val="495677"/>
                </a:solidFill>
              </a:rPr>
              <a:t>: </a:t>
            </a:r>
            <a:r>
              <a:rPr lang="tr-TR" sz="1400" dirty="0" err="1">
                <a:solidFill>
                  <a:srgbClr val="495677"/>
                </a:solidFill>
              </a:rPr>
              <a:t>See</a:t>
            </a:r>
            <a:r>
              <a:rPr lang="tr-TR" sz="1400" dirty="0">
                <a:solidFill>
                  <a:srgbClr val="495677"/>
                </a:solidFill>
              </a:rPr>
              <a:t> </a:t>
            </a:r>
            <a:r>
              <a:rPr lang="tr-TR" sz="1400" dirty="0" err="1">
                <a:solidFill>
                  <a:srgbClr val="495677"/>
                </a:solidFill>
              </a:rPr>
              <a:t>Saldana</a:t>
            </a:r>
            <a:r>
              <a:rPr lang="tr-TR" sz="1400" dirty="0">
                <a:solidFill>
                  <a:srgbClr val="495677"/>
                </a:solidFill>
              </a:rPr>
              <a:t>, J. (2009). </a:t>
            </a:r>
            <a:r>
              <a:rPr lang="tr-TR" sz="1400" i="1" dirty="0" err="1">
                <a:solidFill>
                  <a:srgbClr val="495677"/>
                </a:solidFill>
              </a:rPr>
              <a:t>The</a:t>
            </a:r>
            <a:r>
              <a:rPr lang="tr-TR" sz="1400" i="1" dirty="0">
                <a:solidFill>
                  <a:srgbClr val="495677"/>
                </a:solidFill>
              </a:rPr>
              <a:t> </a:t>
            </a:r>
            <a:r>
              <a:rPr lang="tr-TR" sz="1400" i="1" dirty="0" err="1">
                <a:solidFill>
                  <a:srgbClr val="495677"/>
                </a:solidFill>
              </a:rPr>
              <a:t>coding</a:t>
            </a:r>
            <a:r>
              <a:rPr lang="tr-TR" sz="1400" i="1" dirty="0">
                <a:solidFill>
                  <a:srgbClr val="495677"/>
                </a:solidFill>
              </a:rPr>
              <a:t> </a:t>
            </a:r>
            <a:r>
              <a:rPr lang="tr-TR" sz="1400" i="1" dirty="0" err="1">
                <a:solidFill>
                  <a:srgbClr val="495677"/>
                </a:solidFill>
              </a:rPr>
              <a:t>manual</a:t>
            </a:r>
            <a:r>
              <a:rPr lang="tr-TR" sz="1400" i="1" dirty="0">
                <a:solidFill>
                  <a:srgbClr val="495677"/>
                </a:solidFill>
              </a:rPr>
              <a:t> </a:t>
            </a:r>
            <a:r>
              <a:rPr lang="tr-TR" sz="1400" i="1" dirty="0" err="1">
                <a:solidFill>
                  <a:srgbClr val="495677"/>
                </a:solidFill>
              </a:rPr>
              <a:t>for</a:t>
            </a:r>
            <a:r>
              <a:rPr lang="tr-TR" sz="1400" i="1" dirty="0">
                <a:solidFill>
                  <a:srgbClr val="495677"/>
                </a:solidFill>
              </a:rPr>
              <a:t> </a:t>
            </a:r>
            <a:r>
              <a:rPr lang="tr-TR" sz="1400" i="1" dirty="0" err="1">
                <a:solidFill>
                  <a:srgbClr val="495677"/>
                </a:solidFill>
              </a:rPr>
              <a:t>qualititave</a:t>
            </a:r>
            <a:r>
              <a:rPr lang="tr-TR" sz="1400" i="1" dirty="0">
                <a:solidFill>
                  <a:srgbClr val="495677"/>
                </a:solidFill>
              </a:rPr>
              <a:t> </a:t>
            </a:r>
            <a:r>
              <a:rPr lang="tr-TR" sz="1400" i="1" dirty="0" err="1">
                <a:solidFill>
                  <a:srgbClr val="495677"/>
                </a:solidFill>
              </a:rPr>
              <a:t>researchers</a:t>
            </a:r>
            <a:r>
              <a:rPr lang="tr-TR" sz="1400" dirty="0">
                <a:solidFill>
                  <a:srgbClr val="495677"/>
                </a:solidFill>
              </a:rPr>
              <a:t>. </a:t>
            </a:r>
            <a:endParaRPr lang="en-US" sz="1400" dirty="0">
              <a:solidFill>
                <a:srgbClr val="495677"/>
              </a:solidFill>
            </a:endParaRPr>
          </a:p>
        </p:txBody>
      </p:sp>
      <p:sp>
        <p:nvSpPr>
          <p:cNvPr id="8"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a:solidFill>
                  <a:schemeClr val="bg1"/>
                </a:solidFill>
                <a:latin typeface="Walrus Bold" panose="00000800000000000000" pitchFamily="50" charset="0"/>
              </a:rPr>
              <a:t>Coding</a:t>
            </a:r>
            <a:r>
              <a:rPr lang="tr-TR" dirty="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Methods</a:t>
            </a:r>
            <a:endParaRPr lang="tr-TR" dirty="0">
              <a:solidFill>
                <a:schemeClr val="bg1"/>
              </a:solidFill>
              <a:latin typeface="Walrus Bold" panose="00000800000000000000" pitchFamily="50" charset="0"/>
            </a:endParaRPr>
          </a:p>
        </p:txBody>
      </p:sp>
      <p:sp>
        <p:nvSpPr>
          <p:cNvPr id="9"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CONDENSATION</a:t>
            </a:r>
            <a:endParaRPr lang="tr-TR" sz="1400" b="1" dirty="0"/>
          </a:p>
        </p:txBody>
      </p:sp>
    </p:spTree>
    <p:extLst>
      <p:ext uri="{BB962C8B-B14F-4D97-AF65-F5344CB8AC3E}">
        <p14:creationId xmlns:p14="http://schemas.microsoft.com/office/powerpoint/2010/main" val="5216711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Miles, </a:t>
            </a:r>
            <a:r>
              <a:rPr lang="en-US" dirty="0" err="1" smtClean="0"/>
              <a:t>Huberman</a:t>
            </a:r>
            <a:r>
              <a:rPr lang="en-US" dirty="0" smtClean="0"/>
              <a:t> and Saldana (2014) recommends matrices and networks as the two fundamental methods for displaying data.</a:t>
            </a:r>
          </a:p>
          <a:p>
            <a:pPr lvl="1"/>
            <a:r>
              <a:rPr lang="en-US" i="1" dirty="0" smtClean="0"/>
              <a:t>Matrices</a:t>
            </a:r>
            <a:r>
              <a:rPr lang="en-US" dirty="0" smtClean="0"/>
              <a:t>, with defined rows and columns</a:t>
            </a:r>
          </a:p>
          <a:p>
            <a:pPr lvl="1"/>
            <a:r>
              <a:rPr lang="en-US" i="1" dirty="0" smtClean="0"/>
              <a:t>Networks</a:t>
            </a:r>
            <a:r>
              <a:rPr lang="en-US" dirty="0" smtClean="0"/>
              <a:t>, a series of nodes with links (lines and arrows) between them</a:t>
            </a:r>
            <a:endParaRPr lang="en-US" dirty="0"/>
          </a:p>
        </p:txBody>
      </p:sp>
      <p:sp>
        <p:nvSpPr>
          <p:cNvPr id="4"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smtClean="0">
                <a:solidFill>
                  <a:schemeClr val="bg1"/>
                </a:solidFill>
                <a:latin typeface="Walrus Bold" panose="00000800000000000000" pitchFamily="50" charset="0"/>
              </a:rPr>
              <a:t>Types</a:t>
            </a:r>
            <a:r>
              <a:rPr lang="tr-TR" dirty="0" smtClean="0">
                <a:solidFill>
                  <a:schemeClr val="bg1"/>
                </a:solidFill>
                <a:latin typeface="Walrus Bold" panose="00000800000000000000" pitchFamily="50" charset="0"/>
              </a:rPr>
              <a:t> of Data Displays</a:t>
            </a:r>
            <a:endParaRPr lang="tr-TR" dirty="0">
              <a:solidFill>
                <a:schemeClr val="bg1"/>
              </a:solidFill>
              <a:latin typeface="Walrus Bold" panose="00000800000000000000" pitchFamily="50" charset="0"/>
            </a:endParaRPr>
          </a:p>
        </p:txBody>
      </p:sp>
      <p:sp>
        <p:nvSpPr>
          <p:cNvPr id="5"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DISPLAY</a:t>
            </a:r>
            <a:endParaRPr lang="tr-TR" sz="1400" b="1" dirty="0"/>
          </a:p>
        </p:txBody>
      </p:sp>
    </p:spTree>
    <p:extLst>
      <p:ext uri="{BB962C8B-B14F-4D97-AF65-F5344CB8AC3E}">
        <p14:creationId xmlns:p14="http://schemas.microsoft.com/office/powerpoint/2010/main" val="170036671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Matrix display example from Miles, </a:t>
            </a:r>
            <a:r>
              <a:rPr lang="en-US" dirty="0" err="1" smtClean="0"/>
              <a:t>Huberman</a:t>
            </a:r>
            <a:r>
              <a:rPr lang="en-US" dirty="0"/>
              <a:t> </a:t>
            </a:r>
            <a:r>
              <a:rPr lang="en-US" dirty="0" smtClean="0"/>
              <a:t>and Saldana, 2014)</a:t>
            </a:r>
            <a:endParaRPr lang="en-US" dirty="0"/>
          </a:p>
        </p:txBody>
      </p:sp>
      <p:pic>
        <p:nvPicPr>
          <p:cNvPr id="4" name="Picture 3"/>
          <p:cNvPicPr>
            <a:picLocks noChangeAspect="1"/>
          </p:cNvPicPr>
          <p:nvPr/>
        </p:nvPicPr>
        <p:blipFill>
          <a:blip r:embed="rId2"/>
          <a:stretch>
            <a:fillRect/>
          </a:stretch>
        </p:blipFill>
        <p:spPr>
          <a:xfrm>
            <a:off x="2639616" y="2723480"/>
            <a:ext cx="7010400" cy="3225800"/>
          </a:xfrm>
          <a:prstGeom prst="rect">
            <a:avLst/>
          </a:prstGeom>
        </p:spPr>
      </p:pic>
      <p:sp>
        <p:nvSpPr>
          <p:cNvPr id="5"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smtClean="0">
                <a:solidFill>
                  <a:schemeClr val="bg1"/>
                </a:solidFill>
                <a:latin typeface="Walrus Bold" panose="00000800000000000000" pitchFamily="50" charset="0"/>
              </a:rPr>
              <a:t>Types</a:t>
            </a:r>
            <a:r>
              <a:rPr lang="tr-TR" dirty="0" smtClean="0">
                <a:solidFill>
                  <a:schemeClr val="bg1"/>
                </a:solidFill>
                <a:latin typeface="Walrus Bold" panose="00000800000000000000" pitchFamily="50" charset="0"/>
              </a:rPr>
              <a:t> of Data Displays </a:t>
            </a:r>
            <a:r>
              <a:rPr lang="mr-IN" dirty="0" smtClean="0">
                <a:solidFill>
                  <a:schemeClr val="bg1"/>
                </a:solidFill>
                <a:latin typeface="Walrus Bold" panose="00000800000000000000" pitchFamily="50" charset="0"/>
              </a:rPr>
              <a:t>–</a:t>
            </a:r>
            <a:r>
              <a:rPr lang="tr-TR" dirty="0" smtClean="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Matrix</a:t>
            </a:r>
            <a:r>
              <a:rPr lang="tr-TR" dirty="0" smtClean="0">
                <a:solidFill>
                  <a:schemeClr val="bg1"/>
                </a:solidFill>
                <a:latin typeface="Walrus Bold" panose="00000800000000000000" pitchFamily="50" charset="0"/>
              </a:rPr>
              <a:t> Displays</a:t>
            </a:r>
            <a:endParaRPr lang="tr-TR" dirty="0">
              <a:solidFill>
                <a:schemeClr val="bg1"/>
              </a:solidFill>
              <a:latin typeface="Walrus Bold" panose="00000800000000000000" pitchFamily="50" charset="0"/>
            </a:endParaRPr>
          </a:p>
        </p:txBody>
      </p:sp>
      <p:sp>
        <p:nvSpPr>
          <p:cNvPr id="6"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DISPLAY</a:t>
            </a:r>
            <a:endParaRPr lang="tr-TR" sz="1400" b="1" dirty="0"/>
          </a:p>
        </p:txBody>
      </p:sp>
    </p:spTree>
    <p:extLst>
      <p:ext uri="{BB962C8B-B14F-4D97-AF65-F5344CB8AC3E}">
        <p14:creationId xmlns:p14="http://schemas.microsoft.com/office/powerpoint/2010/main" val="14985219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Network display example from Miles, </a:t>
            </a:r>
            <a:r>
              <a:rPr lang="en-US" dirty="0" err="1" smtClean="0"/>
              <a:t>Huberman</a:t>
            </a:r>
            <a:r>
              <a:rPr lang="en-US" dirty="0"/>
              <a:t> </a:t>
            </a:r>
            <a:r>
              <a:rPr lang="en-US" dirty="0" smtClean="0"/>
              <a:t>and Saldana, 2014)</a:t>
            </a:r>
            <a:endParaRPr lang="en-US" dirty="0"/>
          </a:p>
        </p:txBody>
      </p:sp>
      <p:pic>
        <p:nvPicPr>
          <p:cNvPr id="5" name="Picture 4"/>
          <p:cNvPicPr>
            <a:picLocks noChangeAspect="1"/>
          </p:cNvPicPr>
          <p:nvPr/>
        </p:nvPicPr>
        <p:blipFill>
          <a:blip r:embed="rId2"/>
          <a:stretch>
            <a:fillRect/>
          </a:stretch>
        </p:blipFill>
        <p:spPr>
          <a:xfrm>
            <a:off x="2063552" y="2924945"/>
            <a:ext cx="7632848" cy="2730523"/>
          </a:xfrm>
          <a:prstGeom prst="rect">
            <a:avLst/>
          </a:prstGeom>
        </p:spPr>
      </p:pic>
      <p:sp>
        <p:nvSpPr>
          <p:cNvPr id="6" name="Subtitle 2"/>
          <p:cNvSpPr txBox="1">
            <a:spLocks/>
          </p:cNvSpPr>
          <p:nvPr/>
        </p:nvSpPr>
        <p:spPr>
          <a:xfrm>
            <a:off x="382384" y="598520"/>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smtClean="0">
                <a:solidFill>
                  <a:schemeClr val="bg1"/>
                </a:solidFill>
                <a:latin typeface="Walrus Bold" panose="00000800000000000000" pitchFamily="50" charset="0"/>
              </a:rPr>
              <a:t>Types</a:t>
            </a:r>
            <a:r>
              <a:rPr lang="tr-TR" dirty="0" smtClean="0">
                <a:solidFill>
                  <a:schemeClr val="bg1"/>
                </a:solidFill>
                <a:latin typeface="Walrus Bold" panose="00000800000000000000" pitchFamily="50" charset="0"/>
              </a:rPr>
              <a:t> of Data Displays </a:t>
            </a:r>
            <a:r>
              <a:rPr lang="mr-IN" dirty="0" smtClean="0">
                <a:solidFill>
                  <a:schemeClr val="bg1"/>
                </a:solidFill>
                <a:latin typeface="Walrus Bold" panose="00000800000000000000" pitchFamily="50" charset="0"/>
              </a:rPr>
              <a:t>–</a:t>
            </a:r>
            <a:r>
              <a:rPr lang="tr-TR" dirty="0" smtClean="0">
                <a:solidFill>
                  <a:schemeClr val="bg1"/>
                </a:solidFill>
                <a:latin typeface="Walrus Bold" panose="00000800000000000000" pitchFamily="50" charset="0"/>
              </a:rPr>
              <a:t> Network Displays</a:t>
            </a:r>
            <a:endParaRPr lang="tr-TR" dirty="0">
              <a:solidFill>
                <a:schemeClr val="bg1"/>
              </a:solidFill>
              <a:latin typeface="Walrus Bold" panose="00000800000000000000" pitchFamily="50" charset="0"/>
            </a:endParaRPr>
          </a:p>
        </p:txBody>
      </p:sp>
      <p:sp>
        <p:nvSpPr>
          <p:cNvPr id="7"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DISPLAY</a:t>
            </a:r>
            <a:endParaRPr lang="tr-TR" sz="1400" b="1" dirty="0"/>
          </a:p>
        </p:txBody>
      </p:sp>
    </p:spTree>
    <p:extLst>
      <p:ext uri="{BB962C8B-B14F-4D97-AF65-F5344CB8AC3E}">
        <p14:creationId xmlns:p14="http://schemas.microsoft.com/office/powerpoint/2010/main" val="21183575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Following can also be considered for displaying/representing findings:</a:t>
            </a:r>
            <a:endParaRPr lang="en-US" dirty="0"/>
          </a:p>
          <a:p>
            <a:pPr lvl="1"/>
            <a:r>
              <a:rPr lang="en-US" dirty="0">
                <a:latin typeface="Arial" charset="0"/>
                <a:ea typeface="MS PGothic" charset="0"/>
              </a:rPr>
              <a:t>Comparison table: A table used to compare groups on one theme</a:t>
            </a:r>
          </a:p>
          <a:p>
            <a:pPr lvl="1"/>
            <a:r>
              <a:rPr lang="en-US" dirty="0">
                <a:latin typeface="Arial" charset="0"/>
                <a:ea typeface="MS PGothic" charset="0"/>
              </a:rPr>
              <a:t>Hierarchical tree:  A diagram that visually represents themes and their interconnections </a:t>
            </a:r>
          </a:p>
          <a:p>
            <a:pPr lvl="1"/>
            <a:r>
              <a:rPr lang="en-US" dirty="0">
                <a:latin typeface="Arial" charset="0"/>
                <a:ea typeface="MS PGothic" charset="0"/>
              </a:rPr>
              <a:t>Figures/diagrams:  A visual depiction that shows the connections between themes</a:t>
            </a:r>
          </a:p>
          <a:p>
            <a:pPr lvl="1"/>
            <a:r>
              <a:rPr lang="en-US" dirty="0">
                <a:latin typeface="Arial" charset="0"/>
                <a:ea typeface="MS PGothic" charset="0"/>
              </a:rPr>
              <a:t>Drawings:  Maps of the physical layout of the site</a:t>
            </a:r>
          </a:p>
          <a:p>
            <a:pPr lvl="1"/>
            <a:r>
              <a:rPr lang="en-US" dirty="0">
                <a:latin typeface="Arial" charset="0"/>
                <a:ea typeface="MS PGothic" charset="0"/>
              </a:rPr>
              <a:t>Demographic table:  A table of demographics on individual participants or research site </a:t>
            </a:r>
          </a:p>
        </p:txBody>
      </p:sp>
      <p:sp>
        <p:nvSpPr>
          <p:cNvPr id="7" name="Subtitle 2"/>
          <p:cNvSpPr txBox="1">
            <a:spLocks/>
          </p:cNvSpPr>
          <p:nvPr/>
        </p:nvSpPr>
        <p:spPr>
          <a:xfrm>
            <a:off x="382384" y="596923"/>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smtClean="0">
                <a:solidFill>
                  <a:schemeClr val="bg1"/>
                </a:solidFill>
                <a:latin typeface="Walrus Bold" panose="00000800000000000000" pitchFamily="50" charset="0"/>
              </a:rPr>
              <a:t>Types</a:t>
            </a:r>
            <a:r>
              <a:rPr lang="tr-TR" dirty="0" smtClean="0">
                <a:solidFill>
                  <a:schemeClr val="bg1"/>
                </a:solidFill>
                <a:latin typeface="Walrus Bold" panose="00000800000000000000" pitchFamily="50" charset="0"/>
              </a:rPr>
              <a:t> of Data Displays </a:t>
            </a:r>
            <a:r>
              <a:rPr lang="mr-IN" dirty="0" smtClean="0">
                <a:solidFill>
                  <a:schemeClr val="bg1"/>
                </a:solidFill>
                <a:latin typeface="Walrus Bold" panose="00000800000000000000" pitchFamily="50" charset="0"/>
              </a:rPr>
              <a:t>–</a:t>
            </a:r>
            <a:r>
              <a:rPr lang="tr-TR" dirty="0" smtClean="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Other</a:t>
            </a:r>
            <a:r>
              <a:rPr lang="tr-TR" dirty="0" smtClean="0">
                <a:solidFill>
                  <a:schemeClr val="bg1"/>
                </a:solidFill>
                <a:latin typeface="Walrus Bold" panose="00000800000000000000" pitchFamily="50" charset="0"/>
              </a:rPr>
              <a:t> </a:t>
            </a:r>
            <a:r>
              <a:rPr lang="tr-TR" dirty="0" err="1" smtClean="0">
                <a:solidFill>
                  <a:schemeClr val="bg1"/>
                </a:solidFill>
                <a:latin typeface="Walrus Bold" panose="00000800000000000000" pitchFamily="50" charset="0"/>
              </a:rPr>
              <a:t>Types</a:t>
            </a:r>
            <a:endParaRPr lang="tr-TR" dirty="0">
              <a:solidFill>
                <a:schemeClr val="bg1"/>
              </a:solidFill>
              <a:latin typeface="Walrus Bold" panose="00000800000000000000" pitchFamily="50" charset="0"/>
            </a:endParaRPr>
          </a:p>
        </p:txBody>
      </p:sp>
      <p:sp>
        <p:nvSpPr>
          <p:cNvPr id="8"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DISPLAY</a:t>
            </a:r>
            <a:endParaRPr lang="tr-TR" sz="1400" b="1" dirty="0"/>
          </a:p>
        </p:txBody>
      </p:sp>
    </p:spTree>
    <p:extLst>
      <p:ext uri="{BB962C8B-B14F-4D97-AF65-F5344CB8AC3E}">
        <p14:creationId xmlns:p14="http://schemas.microsoft.com/office/powerpoint/2010/main" val="1041441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GB" dirty="0"/>
              <a:t>Identification of the preliminary clusters (codes for deductive coding</a:t>
            </a:r>
            <a:r>
              <a:rPr lang="en-GB" dirty="0" smtClean="0"/>
              <a:t>) </a:t>
            </a:r>
            <a:r>
              <a:rPr lang="mr-IN" dirty="0" smtClean="0"/>
              <a:t>–</a:t>
            </a:r>
            <a:r>
              <a:rPr lang="en-GB" dirty="0" smtClean="0"/>
              <a:t> 20 mins </a:t>
            </a:r>
            <a:endParaRPr lang="en-GB" dirty="0"/>
          </a:p>
          <a:p>
            <a:pPr lvl="1"/>
            <a:r>
              <a:rPr lang="en-GB" dirty="0"/>
              <a:t>Which categories do you foresee for making sense of the data? Write them down on post-its</a:t>
            </a:r>
            <a:r>
              <a:rPr lang="en-GB" dirty="0" smtClean="0"/>
              <a:t>. </a:t>
            </a:r>
            <a:r>
              <a:rPr lang="en-GB" dirty="0"/>
              <a:t>These will be your ‘start list’ of codes at a higher level</a:t>
            </a:r>
            <a:r>
              <a:rPr lang="en-GB" dirty="0" smtClean="0"/>
              <a:t>.</a:t>
            </a:r>
          </a:p>
          <a:p>
            <a:pPr lvl="1"/>
            <a:r>
              <a:rPr lang="en-GB" dirty="0" smtClean="0"/>
              <a:t>E.g. </a:t>
            </a:r>
          </a:p>
          <a:p>
            <a:pPr lvl="2"/>
            <a:r>
              <a:rPr lang="en-US" dirty="0" smtClean="0"/>
              <a:t>Values </a:t>
            </a:r>
            <a:r>
              <a:rPr lang="mr-IN" dirty="0"/>
              <a:t>–</a:t>
            </a:r>
            <a:r>
              <a:rPr lang="en-US" dirty="0"/>
              <a:t> Consequences </a:t>
            </a:r>
            <a:r>
              <a:rPr lang="mr-IN" dirty="0"/>
              <a:t>–</a:t>
            </a:r>
            <a:r>
              <a:rPr lang="en-US" dirty="0"/>
              <a:t> Attributes</a:t>
            </a:r>
          </a:p>
          <a:p>
            <a:pPr lvl="2"/>
            <a:r>
              <a:rPr lang="en-US" dirty="0" smtClean="0"/>
              <a:t>Behaviors </a:t>
            </a:r>
            <a:endParaRPr lang="en-US" dirty="0"/>
          </a:p>
          <a:p>
            <a:pPr lvl="2"/>
            <a:r>
              <a:rPr lang="en-US" dirty="0"/>
              <a:t>Tasks</a:t>
            </a:r>
          </a:p>
          <a:p>
            <a:pPr lvl="2"/>
            <a:r>
              <a:rPr lang="en-US" dirty="0"/>
              <a:t>Concerns</a:t>
            </a:r>
          </a:p>
          <a:p>
            <a:pPr lvl="2"/>
            <a:r>
              <a:rPr lang="en-US" dirty="0"/>
              <a:t>Strategies</a:t>
            </a:r>
          </a:p>
          <a:p>
            <a:pPr lvl="2"/>
            <a:r>
              <a:rPr lang="en-US" dirty="0"/>
              <a:t>Expectations</a:t>
            </a:r>
          </a:p>
          <a:p>
            <a:pPr lvl="1"/>
            <a:endParaRPr lang="en-GB" dirty="0"/>
          </a:p>
          <a:p>
            <a:pPr lvl="1"/>
            <a:endParaRPr lang="en-US" dirty="0">
              <a:latin typeface="Arial" charset="0"/>
              <a:ea typeface="MS PGothic" charset="0"/>
            </a:endParaRPr>
          </a:p>
        </p:txBody>
      </p:sp>
      <p:sp>
        <p:nvSpPr>
          <p:cNvPr id="7" name="Subtitle 2"/>
          <p:cNvSpPr txBox="1">
            <a:spLocks/>
          </p:cNvSpPr>
          <p:nvPr/>
        </p:nvSpPr>
        <p:spPr>
          <a:xfrm>
            <a:off x="382384" y="596923"/>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smtClean="0">
                <a:solidFill>
                  <a:schemeClr val="bg1"/>
                </a:solidFill>
                <a:latin typeface="Walrus Bold" panose="00000800000000000000" pitchFamily="50" charset="0"/>
              </a:rPr>
              <a:t>Coding</a:t>
            </a:r>
            <a:r>
              <a:rPr lang="tr-TR" dirty="0" smtClean="0">
                <a:solidFill>
                  <a:schemeClr val="bg1"/>
                </a:solidFill>
                <a:latin typeface="Walrus Bold" panose="00000800000000000000" pitchFamily="50" charset="0"/>
              </a:rPr>
              <a:t> Workshop</a:t>
            </a:r>
            <a:endParaRPr lang="tr-TR" dirty="0">
              <a:solidFill>
                <a:schemeClr val="bg1"/>
              </a:solidFill>
              <a:latin typeface="Walrus Bold" panose="00000800000000000000" pitchFamily="50" charset="0"/>
            </a:endParaRPr>
          </a:p>
        </p:txBody>
      </p:sp>
      <p:sp>
        <p:nvSpPr>
          <p:cNvPr id="8"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a:t>
            </a:r>
            <a:r>
              <a:rPr lang="tr-TR" sz="1400" b="1" dirty="0"/>
              <a:t>CONDENSATION</a:t>
            </a:r>
            <a:endParaRPr lang="tr-TR" sz="1400" b="1" dirty="0"/>
          </a:p>
        </p:txBody>
      </p:sp>
    </p:spTree>
    <p:extLst>
      <p:ext uri="{BB962C8B-B14F-4D97-AF65-F5344CB8AC3E}">
        <p14:creationId xmlns:p14="http://schemas.microsoft.com/office/powerpoint/2010/main" val="13015437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GB" dirty="0"/>
              <a:t>Reviewing the transcriptions – (coding both deductively and inductively</a:t>
            </a:r>
            <a:r>
              <a:rPr lang="en-GB" dirty="0" smtClean="0"/>
              <a:t>) </a:t>
            </a:r>
            <a:r>
              <a:rPr lang="mr-IN" dirty="0" smtClean="0"/>
              <a:t>–</a:t>
            </a:r>
            <a:r>
              <a:rPr lang="en-GB" dirty="0" smtClean="0"/>
              <a:t> 60 mins</a:t>
            </a:r>
            <a:endParaRPr lang="en-GB" dirty="0"/>
          </a:p>
          <a:p>
            <a:pPr lvl="1"/>
            <a:r>
              <a:rPr lang="en-GB" dirty="0"/>
              <a:t>Specifying ‘data chunks’: Underline the texts that should be included in the analysis and number each underlined text</a:t>
            </a:r>
          </a:p>
          <a:p>
            <a:pPr lvl="1"/>
            <a:r>
              <a:rPr lang="en-GB" dirty="0"/>
              <a:t>First cycle coding: Assign codes for each numbered text. Write the codes and numbers to a post-it</a:t>
            </a:r>
            <a:r>
              <a:rPr lang="en-GB" dirty="0" smtClean="0"/>
              <a:t>. This time be more specific when naming the codes.</a:t>
            </a:r>
          </a:p>
          <a:p>
            <a:pPr lvl="1"/>
            <a:endParaRPr lang="en-US" dirty="0">
              <a:latin typeface="Arial" charset="0"/>
              <a:ea typeface="MS PGothic" charset="0"/>
            </a:endParaRPr>
          </a:p>
        </p:txBody>
      </p:sp>
      <p:sp>
        <p:nvSpPr>
          <p:cNvPr id="7" name="Subtitle 2"/>
          <p:cNvSpPr txBox="1">
            <a:spLocks/>
          </p:cNvSpPr>
          <p:nvPr/>
        </p:nvSpPr>
        <p:spPr>
          <a:xfrm>
            <a:off x="382384" y="596923"/>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smtClean="0">
                <a:solidFill>
                  <a:schemeClr val="bg1"/>
                </a:solidFill>
                <a:latin typeface="Walrus Bold" panose="00000800000000000000" pitchFamily="50" charset="0"/>
              </a:rPr>
              <a:t>Coding</a:t>
            </a:r>
            <a:r>
              <a:rPr lang="tr-TR" dirty="0" smtClean="0">
                <a:solidFill>
                  <a:schemeClr val="bg1"/>
                </a:solidFill>
                <a:latin typeface="Walrus Bold" panose="00000800000000000000" pitchFamily="50" charset="0"/>
              </a:rPr>
              <a:t> Workshop</a:t>
            </a:r>
            <a:endParaRPr lang="tr-TR" dirty="0">
              <a:solidFill>
                <a:schemeClr val="bg1"/>
              </a:solidFill>
              <a:latin typeface="Walrus Bold" panose="00000800000000000000" pitchFamily="50" charset="0"/>
            </a:endParaRPr>
          </a:p>
        </p:txBody>
      </p:sp>
      <p:sp>
        <p:nvSpPr>
          <p:cNvPr id="8"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a:t>
            </a:r>
            <a:r>
              <a:rPr lang="tr-TR" sz="1400" b="1" dirty="0"/>
              <a:t>CONDENSATION</a:t>
            </a:r>
            <a:endParaRPr lang="tr-TR" sz="1400" b="1" dirty="0"/>
          </a:p>
        </p:txBody>
      </p:sp>
    </p:spTree>
    <p:extLst>
      <p:ext uri="{BB962C8B-B14F-4D97-AF65-F5344CB8AC3E}">
        <p14:creationId xmlns:p14="http://schemas.microsoft.com/office/powerpoint/2010/main" val="12209496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dirty="0"/>
              <a:t>Organizing the outputs </a:t>
            </a:r>
            <a:r>
              <a:rPr lang="mr-IN" dirty="0" smtClean="0"/>
              <a:t>–</a:t>
            </a:r>
            <a:r>
              <a:rPr lang="en-GB" dirty="0" smtClean="0"/>
              <a:t> 30 mins</a:t>
            </a:r>
          </a:p>
          <a:p>
            <a:pPr lvl="1"/>
            <a:r>
              <a:rPr lang="en-GB" dirty="0" smtClean="0"/>
              <a:t>Second </a:t>
            </a:r>
            <a:r>
              <a:rPr lang="en-GB" dirty="0"/>
              <a:t>cycle coding: Arrange the codes and group </a:t>
            </a:r>
            <a:r>
              <a:rPr lang="en-GB" dirty="0" smtClean="0"/>
              <a:t>them. Some of the will be grouped under the preliminary categories that you have identified in the first phase, while some of them will be form new categories. </a:t>
            </a:r>
          </a:p>
          <a:p>
            <a:pPr lvl="1"/>
            <a:r>
              <a:rPr lang="en-GB" dirty="0"/>
              <a:t>Plan how you can integrate these data into spreadsheets for the rest of the analysis.</a:t>
            </a:r>
          </a:p>
          <a:p>
            <a:pPr lvl="1"/>
            <a:endParaRPr lang="en-US" dirty="0">
              <a:latin typeface="Arial" charset="0"/>
              <a:ea typeface="MS PGothic" charset="0"/>
            </a:endParaRPr>
          </a:p>
        </p:txBody>
      </p:sp>
      <p:sp>
        <p:nvSpPr>
          <p:cNvPr id="7" name="Subtitle 2"/>
          <p:cNvSpPr txBox="1">
            <a:spLocks/>
          </p:cNvSpPr>
          <p:nvPr/>
        </p:nvSpPr>
        <p:spPr>
          <a:xfrm>
            <a:off x="382384" y="596923"/>
            <a:ext cx="11405063" cy="382386"/>
          </a:xfrm>
          <a:prstGeom prst="rect">
            <a:avLst/>
          </a:prstGeom>
          <a:solidFill>
            <a:schemeClr val="accent6">
              <a:lumMod val="60000"/>
              <a:lumOff val="40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dirty="0" err="1" smtClean="0">
                <a:solidFill>
                  <a:schemeClr val="bg1"/>
                </a:solidFill>
                <a:latin typeface="Walrus Bold" panose="00000800000000000000" pitchFamily="50" charset="0"/>
              </a:rPr>
              <a:t>Coding</a:t>
            </a:r>
            <a:r>
              <a:rPr lang="tr-TR" dirty="0" smtClean="0">
                <a:solidFill>
                  <a:schemeClr val="bg1"/>
                </a:solidFill>
                <a:latin typeface="Walrus Bold" panose="00000800000000000000" pitchFamily="50" charset="0"/>
              </a:rPr>
              <a:t> Workshop</a:t>
            </a:r>
            <a:endParaRPr lang="tr-TR" dirty="0">
              <a:solidFill>
                <a:schemeClr val="bg1"/>
              </a:solidFill>
              <a:latin typeface="Walrus Bold" panose="00000800000000000000" pitchFamily="50" charset="0"/>
            </a:endParaRPr>
          </a:p>
        </p:txBody>
      </p:sp>
      <p:sp>
        <p:nvSpPr>
          <p:cNvPr id="8" name="Subtitle 2"/>
          <p:cNvSpPr txBox="1">
            <a:spLocks/>
          </p:cNvSpPr>
          <p:nvPr/>
        </p:nvSpPr>
        <p:spPr>
          <a:xfrm>
            <a:off x="382384" y="285250"/>
            <a:ext cx="11654444" cy="230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400" b="1" dirty="0" smtClean="0"/>
              <a:t>DATA </a:t>
            </a:r>
            <a:r>
              <a:rPr lang="tr-TR" sz="1400" b="1" dirty="0"/>
              <a:t>CONDENSATION</a:t>
            </a:r>
            <a:endParaRPr lang="tr-TR" sz="1400" b="1" dirty="0"/>
          </a:p>
        </p:txBody>
      </p:sp>
    </p:spTree>
    <p:extLst>
      <p:ext uri="{BB962C8B-B14F-4D97-AF65-F5344CB8AC3E}">
        <p14:creationId xmlns:p14="http://schemas.microsoft.com/office/powerpoint/2010/main" val="12315886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6ca7db244cb441d72673833894e7d458de53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5448</TotalTime>
  <Words>1314</Words>
  <Application>Microsoft Macintosh PowerPoint</Application>
  <PresentationFormat>Widescreen</PresentationFormat>
  <Paragraphs>134</Paragraphs>
  <Slides>20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Abadi MT Condensed Extra Bold</vt:lpstr>
      <vt:lpstr>Calibri</vt:lpstr>
      <vt:lpstr>Calibri Light</vt:lpstr>
      <vt:lpstr>Mangal</vt:lpstr>
      <vt:lpstr>MS PGothic</vt:lpstr>
      <vt:lpstr>Walrus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sedefsuner@yahoo.com</dc:creator>
  <cp:lastModifiedBy>Gülşen Töre Yargın</cp:lastModifiedBy>
  <cp:revision>113</cp:revision>
  <dcterms:created xsi:type="dcterms:W3CDTF">2017-03-03T13:03:01Z</dcterms:created>
  <dcterms:modified xsi:type="dcterms:W3CDTF">2017-04-16T20:29:50Z</dcterms:modified>
</cp:coreProperties>
</file>